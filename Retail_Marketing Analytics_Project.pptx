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C0000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C0000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C0000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C0000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64915" y="289242"/>
            <a:ext cx="6376415" cy="1019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C0000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40679" y="1630997"/>
            <a:ext cx="5746115" cy="4420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shoks773.github.io/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Relationship Id="rId7" Type="http://schemas.openxmlformats.org/officeDocument/2006/relationships/image" Target="../media/image5.jpg"/><Relationship Id="rId8" Type="http://schemas.openxmlformats.org/officeDocument/2006/relationships/hyperlink" Target="https://www.linkedin.com/in/sharma-ak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hyperlink" Target="https://www.kaggle.com/datasets/abdullah0a/retail-sales-data-with-seasonal-trends-and-marketing" TargetMode="Externa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hyperlink" Target="https://github.com/yourusername/retail-marketing-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19050">
            <a:solidFill>
              <a:srgbClr val="042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945244" y="4305871"/>
            <a:ext cx="2739390" cy="5772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 indent="424180">
              <a:lnSpc>
                <a:spcPct val="100800"/>
              </a:lnSpc>
              <a:spcBef>
                <a:spcPts val="85"/>
              </a:spcBef>
            </a:pPr>
            <a:r>
              <a:rPr dirty="0" sz="1800" spc="-20">
                <a:latin typeface="Trebuchet MS"/>
                <a:cs typeface="Trebuchet MS"/>
              </a:rPr>
              <a:t>Personal</a:t>
            </a:r>
            <a:r>
              <a:rPr dirty="0" sz="1800" spc="-15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webpage: </a:t>
            </a:r>
            <a:r>
              <a:rPr dirty="0" u="sng" sz="1800" spc="-6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rebuchet MS"/>
                <a:cs typeface="Trebuchet MS"/>
                <a:hlinkClick r:id="rId2"/>
              </a:rPr>
              <a:t>https://ashoks773.github.io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42975" y="4105275"/>
            <a:ext cx="7658100" cy="2705100"/>
            <a:chOff x="942975" y="4105275"/>
            <a:chExt cx="7658100" cy="2705100"/>
          </a:xfrm>
        </p:grpSpPr>
        <p:pic>
          <p:nvPicPr>
            <p:cNvPr id="6" name="object 6" descr="A blue and white logo  Description automatically generated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2975" y="4972050"/>
              <a:ext cx="257175" cy="276225"/>
            </a:xfrm>
            <a:prstGeom prst="rect">
              <a:avLst/>
            </a:prstGeom>
          </p:spPr>
        </p:pic>
        <p:pic>
          <p:nvPicPr>
            <p:cNvPr id="7" name="object 7" descr="Icon  Description automatically generated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2975" y="4562475"/>
              <a:ext cx="257175" cy="257175"/>
            </a:xfrm>
            <a:prstGeom prst="rect">
              <a:avLst/>
            </a:prstGeom>
          </p:spPr>
        </p:pic>
        <p:pic>
          <p:nvPicPr>
            <p:cNvPr id="8" name="object 8" descr="A logo of a cat  Description automatically generated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2975" y="4105275"/>
              <a:ext cx="257175" cy="2667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43350" y="6286498"/>
              <a:ext cx="542925" cy="5238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53275" y="6286498"/>
              <a:ext cx="1447800" cy="523875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260728" y="3963796"/>
            <a:ext cx="1469390" cy="128460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algn="just" marL="12700" marR="5080">
              <a:lnSpc>
                <a:spcPct val="125200"/>
              </a:lnSpc>
              <a:spcBef>
                <a:spcPts val="315"/>
              </a:spcBef>
            </a:pPr>
            <a:r>
              <a:rPr dirty="0" sz="2150" spc="-10">
                <a:solidFill>
                  <a:srgbClr val="7E7E7E"/>
                </a:solidFill>
                <a:latin typeface="Calibri"/>
                <a:cs typeface="Calibri"/>
              </a:rPr>
              <a:t>@ashoks773 @ashoks773 </a:t>
            </a:r>
            <a:r>
              <a:rPr dirty="0" u="sng" sz="215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Calibri"/>
                <a:cs typeface="Calibri"/>
                <a:hlinkClick r:id="rId8"/>
              </a:rPr>
              <a:t>@sharma</a:t>
            </a:r>
            <a:r>
              <a:rPr dirty="0" u="sng" sz="215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Calibri"/>
                <a:cs typeface="Calibri"/>
                <a:hlinkClick r:id="rId8"/>
              </a:rPr>
              <a:t>-</a:t>
            </a:r>
            <a:r>
              <a:rPr dirty="0" u="sng" sz="2150" spc="-25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Calibri"/>
                <a:cs typeface="Calibri"/>
                <a:hlinkClick r:id="rId8"/>
              </a:rPr>
              <a:t>ak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69970" y="4186872"/>
            <a:ext cx="5005070" cy="1002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15900">
              <a:lnSpc>
                <a:spcPct val="100000"/>
              </a:lnSpc>
              <a:spcBef>
                <a:spcPts val="100"/>
              </a:spcBef>
            </a:pPr>
            <a:r>
              <a:rPr dirty="0" sz="2000" spc="-40" b="1">
                <a:latin typeface="Trebuchet MS"/>
                <a:cs typeface="Trebuchet MS"/>
              </a:rPr>
              <a:t>Instructor:</a:t>
            </a:r>
            <a:r>
              <a:rPr dirty="0" sz="2000" spc="-135" b="1">
                <a:latin typeface="Trebuchet MS"/>
                <a:cs typeface="Trebuchet MS"/>
              </a:rPr>
              <a:t> </a:t>
            </a:r>
            <a:r>
              <a:rPr dirty="0" u="sng" sz="2400" spc="-14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Dr.</a:t>
            </a:r>
            <a:r>
              <a:rPr dirty="0" u="sng" sz="2400" spc="-125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240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Ashok</a:t>
            </a:r>
            <a:r>
              <a:rPr dirty="0" u="sng" sz="2400" spc="-165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2400" spc="-5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Kumar</a:t>
            </a:r>
            <a:r>
              <a:rPr dirty="0" u="sng" sz="2400" spc="-18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Sharma</a:t>
            </a:r>
            <a:r>
              <a:rPr dirty="0" sz="2400" spc="-10">
                <a:latin typeface="Trebuchet MS"/>
                <a:cs typeface="Trebuchet MS"/>
              </a:rPr>
              <a:t> </a:t>
            </a:r>
            <a:r>
              <a:rPr dirty="0" sz="2000" spc="-35">
                <a:latin typeface="Trebuchet MS"/>
                <a:cs typeface="Trebuchet MS"/>
              </a:rPr>
              <a:t>Bioinformatics</a:t>
            </a:r>
            <a:r>
              <a:rPr dirty="0" sz="2000" spc="-110">
                <a:latin typeface="Trebuchet MS"/>
                <a:cs typeface="Trebuchet MS"/>
              </a:rPr>
              <a:t> </a:t>
            </a:r>
            <a:r>
              <a:rPr dirty="0" sz="2000" spc="-25">
                <a:latin typeface="Trebuchet MS"/>
                <a:cs typeface="Trebuchet MS"/>
              </a:rPr>
              <a:t>Scientist</a:t>
            </a:r>
            <a:r>
              <a:rPr dirty="0" sz="2000" spc="-155">
                <a:latin typeface="Trebuchet MS"/>
                <a:cs typeface="Trebuchet MS"/>
              </a:rPr>
              <a:t> </a:t>
            </a:r>
            <a:r>
              <a:rPr dirty="0" sz="2000" spc="-45">
                <a:latin typeface="Trebuchet MS"/>
                <a:cs typeface="Trebuchet MS"/>
              </a:rPr>
              <a:t>(Senior</a:t>
            </a:r>
            <a:r>
              <a:rPr dirty="0" sz="2000" spc="-10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Data</a:t>
            </a:r>
            <a:r>
              <a:rPr dirty="0" sz="2000" spc="-21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Analyst) </a:t>
            </a:r>
            <a:r>
              <a:rPr dirty="0" sz="2000">
                <a:latin typeface="Trebuchet MS"/>
                <a:cs typeface="Trebuchet MS"/>
              </a:rPr>
              <a:t>Cedars</a:t>
            </a:r>
            <a:r>
              <a:rPr dirty="0" sz="2000" spc="-114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Sinai</a:t>
            </a:r>
            <a:r>
              <a:rPr dirty="0" sz="2000" spc="-14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Medical</a:t>
            </a:r>
            <a:r>
              <a:rPr dirty="0" sz="2000" spc="-110">
                <a:latin typeface="Trebuchet MS"/>
                <a:cs typeface="Trebuchet MS"/>
              </a:rPr>
              <a:t> </a:t>
            </a:r>
            <a:r>
              <a:rPr dirty="0" sz="2000" spc="-80">
                <a:latin typeface="Trebuchet MS"/>
                <a:cs typeface="Trebuchet MS"/>
              </a:rPr>
              <a:t>Center,</a:t>
            </a:r>
            <a:r>
              <a:rPr dirty="0" sz="2000" spc="-85">
                <a:latin typeface="Trebuchet MS"/>
                <a:cs typeface="Trebuchet MS"/>
              </a:rPr>
              <a:t> </a:t>
            </a:r>
            <a:r>
              <a:rPr dirty="0" sz="2000" spc="55">
                <a:latin typeface="Trebuchet MS"/>
                <a:cs typeface="Trebuchet MS"/>
              </a:rPr>
              <a:t>Los</a:t>
            </a:r>
            <a:r>
              <a:rPr dirty="0" sz="2000" spc="-190">
                <a:latin typeface="Trebuchet MS"/>
                <a:cs typeface="Trebuchet MS"/>
              </a:rPr>
              <a:t> </a:t>
            </a:r>
            <a:r>
              <a:rPr dirty="0" sz="2000" spc="-35">
                <a:latin typeface="Trebuchet MS"/>
                <a:cs typeface="Trebuchet MS"/>
              </a:rPr>
              <a:t>Angeles,</a:t>
            </a:r>
            <a:r>
              <a:rPr dirty="0" sz="2000" spc="-165">
                <a:latin typeface="Trebuchet MS"/>
                <a:cs typeface="Trebuchet MS"/>
              </a:rPr>
              <a:t> </a:t>
            </a:r>
            <a:r>
              <a:rPr dirty="0" sz="2000" spc="80">
                <a:latin typeface="Trebuchet MS"/>
                <a:cs typeface="Trebuchet MS"/>
              </a:rPr>
              <a:t>CA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09719" y="6406197"/>
            <a:ext cx="245681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5">
                <a:latin typeface="Trebuchet MS"/>
                <a:cs typeface="Trebuchet MS"/>
              </a:rPr>
              <a:t>Follow:</a:t>
            </a:r>
            <a:r>
              <a:rPr dirty="0" sz="1800" spc="-12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@datawithashok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1318641" y="1167764"/>
            <a:ext cx="9922510" cy="1242695"/>
          </a:xfrm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 marR="5080" indent="421005">
              <a:lnSpc>
                <a:spcPct val="101400"/>
              </a:lnSpc>
              <a:spcBef>
                <a:spcPts val="60"/>
              </a:spcBef>
            </a:pPr>
            <a:r>
              <a:rPr dirty="0" sz="3950" spc="-30"/>
              <a:t>Retail</a:t>
            </a:r>
            <a:r>
              <a:rPr dirty="0" sz="3950" spc="-290"/>
              <a:t> </a:t>
            </a:r>
            <a:r>
              <a:rPr dirty="0" sz="3950" spc="985"/>
              <a:t>s</a:t>
            </a:r>
            <a:r>
              <a:rPr dirty="0" sz="3950" spc="-305"/>
              <a:t> </a:t>
            </a:r>
            <a:r>
              <a:rPr dirty="0" sz="3950" spc="-35"/>
              <a:t>Marketing</a:t>
            </a:r>
            <a:r>
              <a:rPr dirty="0" sz="3950" spc="-320"/>
              <a:t> </a:t>
            </a:r>
            <a:r>
              <a:rPr dirty="0" sz="3950"/>
              <a:t>Analytics</a:t>
            </a:r>
            <a:r>
              <a:rPr dirty="0" sz="3950" spc="-275"/>
              <a:t> </a:t>
            </a:r>
            <a:r>
              <a:rPr dirty="0" sz="3950" spc="-105"/>
              <a:t>Project</a:t>
            </a:r>
            <a:r>
              <a:rPr dirty="0" sz="3950" spc="-305"/>
              <a:t> </a:t>
            </a:r>
            <a:r>
              <a:rPr dirty="0" sz="3950" spc="-25"/>
              <a:t>For </a:t>
            </a:r>
            <a:r>
              <a:rPr dirty="0" sz="3950" spc="50">
                <a:solidFill>
                  <a:srgbClr val="000000"/>
                </a:solidFill>
              </a:rPr>
              <a:t>Customer</a:t>
            </a:r>
            <a:r>
              <a:rPr dirty="0" sz="3950" spc="-320">
                <a:solidFill>
                  <a:srgbClr val="000000"/>
                </a:solidFill>
              </a:rPr>
              <a:t> </a:t>
            </a:r>
            <a:r>
              <a:rPr dirty="0" sz="3950" spc="-10">
                <a:solidFill>
                  <a:srgbClr val="000000"/>
                </a:solidFill>
              </a:rPr>
              <a:t>Segmentation</a:t>
            </a:r>
            <a:r>
              <a:rPr dirty="0" sz="3950" spc="-330">
                <a:solidFill>
                  <a:srgbClr val="000000"/>
                </a:solidFill>
              </a:rPr>
              <a:t> </a:t>
            </a:r>
            <a:r>
              <a:rPr dirty="0" sz="3950" spc="985">
                <a:solidFill>
                  <a:srgbClr val="000000"/>
                </a:solidFill>
              </a:rPr>
              <a:t>s</a:t>
            </a:r>
            <a:r>
              <a:rPr dirty="0" sz="3950" spc="-335">
                <a:solidFill>
                  <a:srgbClr val="000000"/>
                </a:solidFill>
              </a:rPr>
              <a:t> </a:t>
            </a:r>
            <a:r>
              <a:rPr dirty="0" sz="3950" spc="-55">
                <a:solidFill>
                  <a:srgbClr val="000000"/>
                </a:solidFill>
              </a:rPr>
              <a:t>Growth</a:t>
            </a:r>
            <a:r>
              <a:rPr dirty="0" sz="3950" spc="-330">
                <a:solidFill>
                  <a:srgbClr val="000000"/>
                </a:solidFill>
              </a:rPr>
              <a:t> </a:t>
            </a:r>
            <a:r>
              <a:rPr dirty="0" sz="3950" spc="-10">
                <a:solidFill>
                  <a:srgbClr val="000000"/>
                </a:solidFill>
              </a:rPr>
              <a:t>Strategy</a:t>
            </a:r>
            <a:endParaRPr sz="3950"/>
          </a:p>
        </p:txBody>
      </p:sp>
      <p:sp>
        <p:nvSpPr>
          <p:cNvPr id="15" name="object 15"/>
          <p:cNvSpPr/>
          <p:nvPr/>
        </p:nvSpPr>
        <p:spPr>
          <a:xfrm>
            <a:off x="1326388" y="2321686"/>
            <a:ext cx="9915525" cy="9525"/>
          </a:xfrm>
          <a:custGeom>
            <a:avLst/>
            <a:gdLst/>
            <a:ahLst/>
            <a:cxnLst/>
            <a:rect l="l" t="t" r="r" b="b"/>
            <a:pathLst>
              <a:path w="9915525" h="9525">
                <a:moveTo>
                  <a:pt x="9915525" y="0"/>
                </a:moveTo>
                <a:lnTo>
                  <a:pt x="0" y="0"/>
                </a:lnTo>
                <a:lnTo>
                  <a:pt x="0" y="9525"/>
                </a:lnTo>
                <a:lnTo>
                  <a:pt x="9915525" y="9525"/>
                </a:lnTo>
                <a:lnTo>
                  <a:pt x="99155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001712" y="2299745"/>
            <a:ext cx="10208895" cy="1251585"/>
          </a:xfrm>
          <a:prstGeom prst="rect">
            <a:avLst/>
          </a:prstGeom>
        </p:spPr>
        <p:txBody>
          <a:bodyPr wrap="square" lIns="0" tIns="2362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60"/>
              </a:spcBef>
            </a:pPr>
            <a:r>
              <a:rPr dirty="0" sz="3000" spc="-45" b="1">
                <a:solidFill>
                  <a:srgbClr val="4EA72D"/>
                </a:solidFill>
                <a:latin typeface="Trebuchet MS"/>
                <a:cs typeface="Trebuchet MS"/>
              </a:rPr>
              <a:t>A</a:t>
            </a:r>
            <a:r>
              <a:rPr dirty="0" sz="3000" spc="-250" b="1">
                <a:solidFill>
                  <a:srgbClr val="4EA72D"/>
                </a:solidFill>
                <a:latin typeface="Trebuchet MS"/>
                <a:cs typeface="Trebuchet MS"/>
              </a:rPr>
              <a:t> </a:t>
            </a:r>
            <a:r>
              <a:rPr dirty="0" sz="3000" spc="-25" b="1">
                <a:solidFill>
                  <a:srgbClr val="4EA72D"/>
                </a:solidFill>
                <a:latin typeface="Trebuchet MS"/>
                <a:cs typeface="Trebuchet MS"/>
              </a:rPr>
              <a:t>Comprehensive</a:t>
            </a:r>
            <a:r>
              <a:rPr dirty="0" sz="3000" spc="-285" b="1">
                <a:solidFill>
                  <a:srgbClr val="4EA72D"/>
                </a:solidFill>
                <a:latin typeface="Trebuchet MS"/>
                <a:cs typeface="Trebuchet MS"/>
              </a:rPr>
              <a:t> </a:t>
            </a:r>
            <a:r>
              <a:rPr dirty="0" sz="3000" spc="-20" b="1">
                <a:solidFill>
                  <a:srgbClr val="4EA72D"/>
                </a:solidFill>
                <a:latin typeface="Trebuchet MS"/>
                <a:cs typeface="Trebuchet MS"/>
              </a:rPr>
              <a:t>End</a:t>
            </a:r>
            <a:r>
              <a:rPr dirty="0" sz="3000" spc="-220" b="1">
                <a:solidFill>
                  <a:srgbClr val="4EA72D"/>
                </a:solidFill>
                <a:latin typeface="Trebuchet MS"/>
                <a:cs typeface="Trebuchet MS"/>
              </a:rPr>
              <a:t> </a:t>
            </a:r>
            <a:r>
              <a:rPr dirty="0" sz="3000" spc="-75" b="1">
                <a:solidFill>
                  <a:srgbClr val="4EA72D"/>
                </a:solidFill>
                <a:latin typeface="Trebuchet MS"/>
                <a:cs typeface="Trebuchet MS"/>
              </a:rPr>
              <a:t>to</a:t>
            </a:r>
            <a:r>
              <a:rPr dirty="0" sz="3000" spc="-250" b="1">
                <a:solidFill>
                  <a:srgbClr val="4EA72D"/>
                </a:solidFill>
                <a:latin typeface="Trebuchet MS"/>
                <a:cs typeface="Trebuchet MS"/>
              </a:rPr>
              <a:t> </a:t>
            </a:r>
            <a:r>
              <a:rPr dirty="0" sz="3000" spc="-20" b="1">
                <a:solidFill>
                  <a:srgbClr val="4EA72D"/>
                </a:solidFill>
                <a:latin typeface="Trebuchet MS"/>
                <a:cs typeface="Trebuchet MS"/>
              </a:rPr>
              <a:t>End</a:t>
            </a:r>
            <a:r>
              <a:rPr dirty="0" sz="3000" spc="-225" b="1">
                <a:solidFill>
                  <a:srgbClr val="4EA72D"/>
                </a:solidFill>
                <a:latin typeface="Trebuchet MS"/>
                <a:cs typeface="Trebuchet MS"/>
              </a:rPr>
              <a:t> </a:t>
            </a:r>
            <a:r>
              <a:rPr dirty="0" sz="3000" spc="-20" b="1">
                <a:solidFill>
                  <a:srgbClr val="4EA72D"/>
                </a:solidFill>
                <a:latin typeface="Trebuchet MS"/>
                <a:cs typeface="Trebuchet MS"/>
              </a:rPr>
              <a:t>Analytics</a:t>
            </a:r>
            <a:r>
              <a:rPr dirty="0" sz="3000" spc="-240" b="1">
                <a:solidFill>
                  <a:srgbClr val="4EA72D"/>
                </a:solidFill>
                <a:latin typeface="Trebuchet MS"/>
                <a:cs typeface="Trebuchet MS"/>
              </a:rPr>
              <a:t> </a:t>
            </a:r>
            <a:r>
              <a:rPr dirty="0" sz="3000" spc="-95" b="1">
                <a:solidFill>
                  <a:srgbClr val="4EA72D"/>
                </a:solidFill>
                <a:latin typeface="Trebuchet MS"/>
                <a:cs typeface="Trebuchet MS"/>
              </a:rPr>
              <a:t>Project</a:t>
            </a:r>
            <a:r>
              <a:rPr dirty="0" sz="3000" spc="-200" b="1">
                <a:solidFill>
                  <a:srgbClr val="4EA72D"/>
                </a:solidFill>
                <a:latin typeface="Trebuchet MS"/>
                <a:cs typeface="Trebuchet MS"/>
              </a:rPr>
              <a:t> </a:t>
            </a:r>
            <a:r>
              <a:rPr dirty="0" sz="3000" spc="-120" b="1">
                <a:solidFill>
                  <a:srgbClr val="4EA72D"/>
                </a:solidFill>
                <a:latin typeface="Trebuchet MS"/>
                <a:cs typeface="Trebuchet MS"/>
              </a:rPr>
              <a:t>for</a:t>
            </a:r>
            <a:r>
              <a:rPr dirty="0" sz="3000" spc="-245" b="1">
                <a:solidFill>
                  <a:srgbClr val="4EA72D"/>
                </a:solidFill>
                <a:latin typeface="Trebuchet MS"/>
                <a:cs typeface="Trebuchet MS"/>
              </a:rPr>
              <a:t> </a:t>
            </a:r>
            <a:r>
              <a:rPr dirty="0" sz="3000" spc="-10" b="1">
                <a:solidFill>
                  <a:srgbClr val="4EA72D"/>
                </a:solidFill>
                <a:latin typeface="Trebuchet MS"/>
                <a:cs typeface="Trebuchet MS"/>
              </a:rPr>
              <a:t>Students</a:t>
            </a:r>
            <a:endParaRPr sz="3000">
              <a:latin typeface="Trebuchet MS"/>
              <a:cs typeface="Trebuchet MS"/>
            </a:endParaRPr>
          </a:p>
          <a:p>
            <a:pPr algn="ctr" marR="6985">
              <a:lnSpc>
                <a:spcPct val="100000"/>
              </a:lnSpc>
              <a:spcBef>
                <a:spcPts val="1410"/>
              </a:spcBef>
            </a:pPr>
            <a:r>
              <a:rPr dirty="0" sz="2400" spc="-60" b="1">
                <a:solidFill>
                  <a:srgbClr val="9F2B92"/>
                </a:solidFill>
                <a:latin typeface="Trebuchet MS"/>
                <a:cs typeface="Trebuchet MS"/>
              </a:rPr>
              <a:t>Duration:</a:t>
            </a:r>
            <a:r>
              <a:rPr dirty="0" sz="2400" spc="-135" b="1">
                <a:solidFill>
                  <a:srgbClr val="9F2B92"/>
                </a:solidFill>
                <a:latin typeface="Trebuchet MS"/>
                <a:cs typeface="Trebuchet MS"/>
              </a:rPr>
              <a:t> </a:t>
            </a:r>
            <a:r>
              <a:rPr dirty="0" u="sng" sz="2400" spc="-120" b="1">
                <a:solidFill>
                  <a:srgbClr val="9F2B92"/>
                </a:solidFill>
                <a:uFill>
                  <a:solidFill>
                    <a:srgbClr val="9F2B92"/>
                  </a:solidFill>
                </a:uFill>
                <a:latin typeface="Trebuchet MS"/>
                <a:cs typeface="Trebuchet MS"/>
              </a:rPr>
              <a:t>2-</a:t>
            </a:r>
            <a:r>
              <a:rPr dirty="0" u="sng" sz="2400" spc="-150" b="1">
                <a:solidFill>
                  <a:srgbClr val="9F2B92"/>
                </a:solidFill>
                <a:uFill>
                  <a:solidFill>
                    <a:srgbClr val="9F2B92"/>
                  </a:solidFill>
                </a:uFill>
                <a:latin typeface="Trebuchet MS"/>
                <a:cs typeface="Trebuchet MS"/>
              </a:rPr>
              <a:t>3 </a:t>
            </a:r>
            <a:r>
              <a:rPr dirty="0" u="sng" sz="2400" b="1">
                <a:solidFill>
                  <a:srgbClr val="9F2B92"/>
                </a:solidFill>
                <a:uFill>
                  <a:solidFill>
                    <a:srgbClr val="9F2B92"/>
                  </a:solidFill>
                </a:uFill>
                <a:latin typeface="Trebuchet MS"/>
                <a:cs typeface="Trebuchet MS"/>
              </a:rPr>
              <a:t>Hours</a:t>
            </a:r>
            <a:r>
              <a:rPr dirty="0" u="sng" sz="2400" spc="-290" b="1">
                <a:solidFill>
                  <a:srgbClr val="9F2B92"/>
                </a:solidFill>
                <a:uFill>
                  <a:solidFill>
                    <a:srgbClr val="9F2B92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sz="2400" spc="-780" b="1">
                <a:solidFill>
                  <a:srgbClr val="9F2B92"/>
                </a:solidFill>
                <a:latin typeface="Trebuchet MS"/>
                <a:cs typeface="Trebuchet MS"/>
              </a:rPr>
              <a:t>|</a:t>
            </a:r>
            <a:r>
              <a:rPr dirty="0" sz="2400" spc="-195" b="1">
                <a:solidFill>
                  <a:srgbClr val="9F2B92"/>
                </a:solidFill>
                <a:latin typeface="Trebuchet MS"/>
                <a:cs typeface="Trebuchet MS"/>
              </a:rPr>
              <a:t> </a:t>
            </a:r>
            <a:r>
              <a:rPr dirty="0" sz="2400" spc="-20" b="1">
                <a:solidFill>
                  <a:srgbClr val="9F2B92"/>
                </a:solidFill>
                <a:latin typeface="Trebuchet MS"/>
                <a:cs typeface="Trebuchet MS"/>
              </a:rPr>
              <a:t>Recorded</a:t>
            </a:r>
            <a:r>
              <a:rPr dirty="0" sz="2400" spc="-135" b="1">
                <a:solidFill>
                  <a:srgbClr val="9F2B92"/>
                </a:solidFill>
                <a:latin typeface="Trebuchet MS"/>
                <a:cs typeface="Trebuchet MS"/>
              </a:rPr>
              <a:t> </a:t>
            </a:r>
            <a:r>
              <a:rPr dirty="0" sz="2400" spc="-35" b="1">
                <a:solidFill>
                  <a:srgbClr val="9F2B92"/>
                </a:solidFill>
                <a:latin typeface="Trebuchet MS"/>
                <a:cs typeface="Trebuchet MS"/>
              </a:rPr>
              <a:t>Lectures</a:t>
            </a:r>
            <a:r>
              <a:rPr dirty="0" sz="2400" spc="-190" b="1">
                <a:solidFill>
                  <a:srgbClr val="9F2B92"/>
                </a:solidFill>
                <a:latin typeface="Trebuchet MS"/>
                <a:cs typeface="Trebuchet MS"/>
              </a:rPr>
              <a:t> </a:t>
            </a:r>
            <a:r>
              <a:rPr dirty="0" sz="2400" spc="-10" b="1">
                <a:solidFill>
                  <a:srgbClr val="9F2B92"/>
                </a:solidFill>
                <a:latin typeface="Trebuchet MS"/>
                <a:cs typeface="Trebuchet MS"/>
              </a:rPr>
              <a:t>Available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19225" y="5686425"/>
            <a:ext cx="9725025" cy="371475"/>
          </a:xfrm>
          <a:prstGeom prst="rect">
            <a:avLst/>
          </a:prstGeom>
          <a:solidFill>
            <a:srgbClr val="FAE2D5"/>
          </a:solidFill>
        </p:spPr>
        <p:txBody>
          <a:bodyPr wrap="square" lIns="0" tIns="34290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270"/>
              </a:spcBef>
            </a:pPr>
            <a:r>
              <a:rPr dirty="0" sz="1800" spc="-60" b="1">
                <a:latin typeface="Trebuchet MS"/>
                <a:cs typeface="Trebuchet MS"/>
              </a:rPr>
              <a:t>Tools:</a:t>
            </a:r>
            <a:r>
              <a:rPr dirty="0" sz="1800" spc="-110" b="1">
                <a:latin typeface="Trebuchet MS"/>
                <a:cs typeface="Trebuchet MS"/>
              </a:rPr>
              <a:t> </a:t>
            </a:r>
            <a:r>
              <a:rPr dirty="0" sz="1800" spc="-35">
                <a:latin typeface="Trebuchet MS"/>
                <a:cs typeface="Trebuchet MS"/>
              </a:rPr>
              <a:t>Python</a:t>
            </a:r>
            <a:r>
              <a:rPr dirty="0" sz="1800" spc="-155">
                <a:latin typeface="Trebuchet MS"/>
                <a:cs typeface="Trebuchet MS"/>
              </a:rPr>
              <a:t> </a:t>
            </a:r>
            <a:r>
              <a:rPr dirty="0" sz="1800" spc="-470">
                <a:latin typeface="Trebuchet MS"/>
                <a:cs typeface="Trebuchet MS"/>
              </a:rPr>
              <a:t>|</a:t>
            </a:r>
            <a:r>
              <a:rPr dirty="0" sz="1800" spc="-17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Pandas</a:t>
            </a:r>
            <a:r>
              <a:rPr dirty="0" sz="1800" spc="-185">
                <a:latin typeface="Trebuchet MS"/>
                <a:cs typeface="Trebuchet MS"/>
              </a:rPr>
              <a:t> </a:t>
            </a:r>
            <a:r>
              <a:rPr dirty="0" sz="1800" spc="-470">
                <a:latin typeface="Trebuchet MS"/>
                <a:cs typeface="Trebuchet MS"/>
              </a:rPr>
              <a:t>|</a:t>
            </a:r>
            <a:r>
              <a:rPr dirty="0" sz="1800" spc="-11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Numpy</a:t>
            </a:r>
            <a:r>
              <a:rPr dirty="0" sz="1800" spc="-135">
                <a:latin typeface="Trebuchet MS"/>
                <a:cs typeface="Trebuchet MS"/>
              </a:rPr>
              <a:t> </a:t>
            </a:r>
            <a:r>
              <a:rPr dirty="0" sz="1800" spc="-470">
                <a:latin typeface="Trebuchet MS"/>
                <a:cs typeface="Trebuchet MS"/>
              </a:rPr>
              <a:t>|</a:t>
            </a:r>
            <a:r>
              <a:rPr dirty="0" sz="1800" spc="-170">
                <a:latin typeface="Trebuchet MS"/>
                <a:cs typeface="Trebuchet MS"/>
              </a:rPr>
              <a:t> </a:t>
            </a:r>
            <a:r>
              <a:rPr dirty="0" sz="1800" spc="-35">
                <a:latin typeface="Trebuchet MS"/>
                <a:cs typeface="Trebuchet MS"/>
              </a:rPr>
              <a:t>Scikit-</a:t>
            </a:r>
            <a:r>
              <a:rPr dirty="0" sz="1800" spc="-45">
                <a:latin typeface="Trebuchet MS"/>
                <a:cs typeface="Trebuchet MS"/>
              </a:rPr>
              <a:t>learn</a:t>
            </a:r>
            <a:r>
              <a:rPr dirty="0" sz="1800" spc="-155">
                <a:latin typeface="Trebuchet MS"/>
                <a:cs typeface="Trebuchet MS"/>
              </a:rPr>
              <a:t> </a:t>
            </a:r>
            <a:r>
              <a:rPr dirty="0" sz="1800" spc="-470">
                <a:latin typeface="Trebuchet MS"/>
                <a:cs typeface="Trebuchet MS"/>
              </a:rPr>
              <a:t>|</a:t>
            </a:r>
            <a:r>
              <a:rPr dirty="0" sz="1800" spc="-1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Scipy</a:t>
            </a:r>
            <a:r>
              <a:rPr dirty="0" sz="1800" spc="-135">
                <a:latin typeface="Trebuchet MS"/>
                <a:cs typeface="Trebuchet MS"/>
              </a:rPr>
              <a:t> </a:t>
            </a:r>
            <a:r>
              <a:rPr dirty="0" sz="1800" spc="-470">
                <a:latin typeface="Trebuchet MS"/>
                <a:cs typeface="Trebuchet MS"/>
              </a:rPr>
              <a:t>|</a:t>
            </a:r>
            <a:r>
              <a:rPr dirty="0" sz="1800" spc="-1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Statsmodels</a:t>
            </a:r>
            <a:r>
              <a:rPr dirty="0" sz="1800" spc="-125">
                <a:latin typeface="Trebuchet MS"/>
                <a:cs typeface="Trebuchet MS"/>
              </a:rPr>
              <a:t> </a:t>
            </a:r>
            <a:r>
              <a:rPr dirty="0" sz="1800" spc="-470">
                <a:latin typeface="Trebuchet MS"/>
                <a:cs typeface="Trebuchet MS"/>
              </a:rPr>
              <a:t>|</a:t>
            </a:r>
            <a:r>
              <a:rPr dirty="0" sz="1800" spc="-165">
                <a:latin typeface="Trebuchet MS"/>
                <a:cs typeface="Trebuchet MS"/>
              </a:rPr>
              <a:t> </a:t>
            </a:r>
            <a:r>
              <a:rPr dirty="0" sz="1800" spc="-35">
                <a:latin typeface="Trebuchet MS"/>
                <a:cs typeface="Trebuchet MS"/>
              </a:rPr>
              <a:t>Matplotlib</a:t>
            </a:r>
            <a:r>
              <a:rPr dirty="0" sz="1800" spc="-85">
                <a:latin typeface="Trebuchet MS"/>
                <a:cs typeface="Trebuchet MS"/>
              </a:rPr>
              <a:t> </a:t>
            </a:r>
            <a:r>
              <a:rPr dirty="0" sz="1800" spc="-470">
                <a:latin typeface="Trebuchet MS"/>
                <a:cs typeface="Trebuchet MS"/>
              </a:rPr>
              <a:t>|</a:t>
            </a:r>
            <a:r>
              <a:rPr dirty="0" sz="1800" spc="-17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Seaborn</a:t>
            </a:r>
            <a:r>
              <a:rPr dirty="0" sz="1800" spc="-145">
                <a:latin typeface="Trebuchet MS"/>
                <a:cs typeface="Trebuchet MS"/>
              </a:rPr>
              <a:t> </a:t>
            </a:r>
            <a:r>
              <a:rPr dirty="0" sz="1800" spc="-470">
                <a:latin typeface="Trebuchet MS"/>
                <a:cs typeface="Trebuchet MS"/>
              </a:rPr>
              <a:t>|</a:t>
            </a:r>
            <a:r>
              <a:rPr dirty="0" sz="1800" spc="-19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Plotly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5986" rIns="0" bIns="0" rtlCol="0" vert="horz">
            <a:spAutoFit/>
          </a:bodyPr>
          <a:lstStyle/>
          <a:p>
            <a:pPr marL="309245">
              <a:lnSpc>
                <a:spcPct val="100000"/>
              </a:lnSpc>
              <a:spcBef>
                <a:spcPts val="130"/>
              </a:spcBef>
            </a:pPr>
            <a:r>
              <a:rPr dirty="0" spc="-254"/>
              <a:t>Project</a:t>
            </a:r>
            <a:r>
              <a:rPr dirty="0" spc="-540"/>
              <a:t> </a:t>
            </a:r>
            <a:r>
              <a:rPr dirty="0" spc="-204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402016"/>
            <a:ext cx="9790430" cy="5772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dirty="0" sz="1800" spc="-50">
                <a:latin typeface="Trebuchet MS"/>
                <a:cs typeface="Trebuchet MS"/>
              </a:rPr>
              <a:t>This</a:t>
            </a:r>
            <a:r>
              <a:rPr dirty="0" sz="1800" spc="-90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comprehensive</a:t>
            </a:r>
            <a:r>
              <a:rPr dirty="0" sz="1800" spc="-175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analytics</a:t>
            </a:r>
            <a:r>
              <a:rPr dirty="0" sz="1800" spc="-90">
                <a:latin typeface="Trebuchet MS"/>
                <a:cs typeface="Trebuchet MS"/>
              </a:rPr>
              <a:t> </a:t>
            </a:r>
            <a:r>
              <a:rPr dirty="0" sz="1800" spc="-75">
                <a:latin typeface="Trebuchet MS"/>
                <a:cs typeface="Trebuchet MS"/>
              </a:rPr>
              <a:t>project</a:t>
            </a:r>
            <a:r>
              <a:rPr dirty="0" sz="1800" spc="-100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demonstrates</a:t>
            </a:r>
            <a:r>
              <a:rPr dirty="0" sz="1800" spc="-17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</a:t>
            </a:r>
            <a:r>
              <a:rPr dirty="0" sz="1800" spc="-100">
                <a:latin typeface="Trebuchet MS"/>
                <a:cs typeface="Trebuchet MS"/>
              </a:rPr>
              <a:t> </a:t>
            </a:r>
            <a:r>
              <a:rPr dirty="0" sz="1800" spc="-30">
                <a:latin typeface="Trebuchet MS"/>
                <a:cs typeface="Trebuchet MS"/>
              </a:rPr>
              <a:t>complete</a:t>
            </a:r>
            <a:r>
              <a:rPr dirty="0" sz="1800" spc="-85">
                <a:latin typeface="Trebuchet MS"/>
                <a:cs typeface="Trebuchet MS"/>
              </a:rPr>
              <a:t> </a:t>
            </a:r>
            <a:r>
              <a:rPr dirty="0" sz="1800" spc="-40">
                <a:latin typeface="Trebuchet MS"/>
                <a:cs typeface="Trebuchet MS"/>
              </a:rPr>
              <a:t>data</a:t>
            </a:r>
            <a:r>
              <a:rPr dirty="0" sz="1800" spc="-18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science</a:t>
            </a:r>
            <a:r>
              <a:rPr dirty="0" sz="1800" spc="-175">
                <a:latin typeface="Trebuchet MS"/>
                <a:cs typeface="Trebuchet MS"/>
              </a:rPr>
              <a:t> </a:t>
            </a:r>
            <a:r>
              <a:rPr dirty="0" sz="1800" spc="-60">
                <a:latin typeface="Trebuchet MS"/>
                <a:cs typeface="Trebuchet MS"/>
              </a:rPr>
              <a:t>workflow </a:t>
            </a:r>
            <a:r>
              <a:rPr dirty="0" sz="1800" spc="-85">
                <a:latin typeface="Trebuchet MS"/>
                <a:cs typeface="Trebuchet MS"/>
              </a:rPr>
              <a:t>for</a:t>
            </a:r>
            <a:r>
              <a:rPr dirty="0" sz="1800" spc="-210">
                <a:latin typeface="Trebuchet MS"/>
                <a:cs typeface="Trebuchet MS"/>
              </a:rPr>
              <a:t> </a:t>
            </a:r>
            <a:r>
              <a:rPr dirty="0" sz="1800" spc="-80">
                <a:latin typeface="Trebuchet MS"/>
                <a:cs typeface="Trebuchet MS"/>
              </a:rPr>
              <a:t>retail</a:t>
            </a:r>
            <a:r>
              <a:rPr dirty="0" sz="1800" spc="-140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and </a:t>
            </a:r>
            <a:r>
              <a:rPr dirty="0" sz="1800" spc="-55">
                <a:latin typeface="Trebuchet MS"/>
                <a:cs typeface="Trebuchet MS"/>
              </a:rPr>
              <a:t>marketing</a:t>
            </a:r>
            <a:r>
              <a:rPr dirty="0" sz="1800" spc="-175">
                <a:latin typeface="Trebuchet MS"/>
                <a:cs typeface="Trebuchet MS"/>
              </a:rPr>
              <a:t> </a:t>
            </a:r>
            <a:r>
              <a:rPr dirty="0" sz="1800" spc="-40">
                <a:latin typeface="Trebuchet MS"/>
                <a:cs typeface="Trebuchet MS"/>
              </a:rPr>
              <a:t>analytics,</a:t>
            </a:r>
            <a:r>
              <a:rPr dirty="0" sz="1800" spc="-195">
                <a:latin typeface="Trebuchet MS"/>
                <a:cs typeface="Trebuchet MS"/>
              </a:rPr>
              <a:t> </a:t>
            </a:r>
            <a:r>
              <a:rPr dirty="0" sz="1800" spc="-60">
                <a:latin typeface="Trebuchet MS"/>
                <a:cs typeface="Trebuchet MS"/>
              </a:rPr>
              <a:t>from</a:t>
            </a:r>
            <a:r>
              <a:rPr dirty="0" sz="1800" spc="-85">
                <a:latin typeface="Trebuchet MS"/>
                <a:cs typeface="Trebuchet MS"/>
              </a:rPr>
              <a:t> </a:t>
            </a:r>
            <a:r>
              <a:rPr dirty="0" sz="1800" spc="-60">
                <a:latin typeface="Trebuchet MS"/>
                <a:cs typeface="Trebuchet MS"/>
              </a:rPr>
              <a:t>data</a:t>
            </a:r>
            <a:r>
              <a:rPr dirty="0" sz="1800" spc="-105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acquisition</a:t>
            </a:r>
            <a:r>
              <a:rPr dirty="0" sz="1800" spc="-145">
                <a:latin typeface="Trebuchet MS"/>
                <a:cs typeface="Trebuchet MS"/>
              </a:rPr>
              <a:t> </a:t>
            </a:r>
            <a:r>
              <a:rPr dirty="0" sz="1800" spc="-55">
                <a:latin typeface="Trebuchet MS"/>
                <a:cs typeface="Trebuchet MS"/>
              </a:rPr>
              <a:t>to</a:t>
            </a:r>
            <a:r>
              <a:rPr dirty="0" sz="1800" spc="-145">
                <a:latin typeface="Trebuchet MS"/>
                <a:cs typeface="Trebuchet MS"/>
              </a:rPr>
              <a:t> </a:t>
            </a:r>
            <a:r>
              <a:rPr dirty="0" sz="1800" spc="-30">
                <a:latin typeface="Trebuchet MS"/>
                <a:cs typeface="Trebuchet MS"/>
              </a:rPr>
              <a:t>actionable</a:t>
            </a:r>
            <a:r>
              <a:rPr dirty="0" sz="1800" spc="-18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insights</a:t>
            </a:r>
            <a:r>
              <a:rPr dirty="0" sz="1800" spc="-18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and</a:t>
            </a:r>
            <a:r>
              <a:rPr dirty="0" sz="1800" spc="-7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dashboard</a:t>
            </a:r>
            <a:r>
              <a:rPr dirty="0" sz="1800" spc="-16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creation.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575" y="2211641"/>
            <a:ext cx="101536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10" b="1">
                <a:latin typeface="Trebuchet MS"/>
                <a:cs typeface="Trebuchet MS"/>
              </a:rPr>
              <a:t>Objectives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575" y="2450147"/>
            <a:ext cx="4967605" cy="246951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355600" marR="6350" indent="-343535">
              <a:lnSpc>
                <a:spcPct val="105000"/>
              </a:lnSpc>
              <a:spcBef>
                <a:spcPts val="35"/>
              </a:spcBef>
              <a:buAutoNum type="arabicPeriod"/>
              <a:tabLst>
                <a:tab pos="355600" algn="l"/>
              </a:tabLst>
            </a:pPr>
            <a:r>
              <a:rPr dirty="0" sz="1550" b="1">
                <a:latin typeface="Trebuchet MS"/>
                <a:cs typeface="Trebuchet MS"/>
              </a:rPr>
              <a:t>Customer</a:t>
            </a:r>
            <a:r>
              <a:rPr dirty="0" sz="1550" spc="-40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Segmentation</a:t>
            </a:r>
            <a:r>
              <a:rPr dirty="0" sz="1550">
                <a:latin typeface="Trebuchet MS"/>
                <a:cs typeface="Trebuchet MS"/>
              </a:rPr>
              <a:t>:</a:t>
            </a:r>
            <a:r>
              <a:rPr dirty="0" sz="1550" spc="50">
                <a:latin typeface="Trebuchet MS"/>
                <a:cs typeface="Trebuchet MS"/>
              </a:rPr>
              <a:t> </a:t>
            </a:r>
            <a:r>
              <a:rPr dirty="0" sz="1550" spc="-45">
                <a:latin typeface="Trebuchet MS"/>
                <a:cs typeface="Trebuchet MS"/>
              </a:rPr>
              <a:t>Identify</a:t>
            </a:r>
            <a:r>
              <a:rPr dirty="0" sz="1550" spc="-10">
                <a:latin typeface="Trebuchet MS"/>
                <a:cs typeface="Trebuchet MS"/>
              </a:rPr>
              <a:t> </a:t>
            </a:r>
            <a:r>
              <a:rPr dirty="0" sz="1550" spc="-20">
                <a:latin typeface="Trebuchet MS"/>
                <a:cs typeface="Trebuchet MS"/>
              </a:rPr>
              <a:t>distinct</a:t>
            </a:r>
            <a:r>
              <a:rPr dirty="0" sz="1550" spc="-45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customer </a:t>
            </a:r>
            <a:r>
              <a:rPr dirty="0" sz="1550">
                <a:latin typeface="Trebuchet MS"/>
                <a:cs typeface="Trebuchet MS"/>
              </a:rPr>
              <a:t>groups</a:t>
            </a:r>
            <a:r>
              <a:rPr dirty="0" sz="1550" spc="-1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using</a:t>
            </a:r>
            <a:r>
              <a:rPr dirty="0" sz="1550" spc="-10">
                <a:latin typeface="Trebuchet MS"/>
                <a:cs typeface="Trebuchet MS"/>
              </a:rPr>
              <a:t> </a:t>
            </a:r>
            <a:r>
              <a:rPr dirty="0" sz="1550" spc="70">
                <a:latin typeface="Trebuchet MS"/>
                <a:cs typeface="Trebuchet MS"/>
              </a:rPr>
              <a:t>RFM</a:t>
            </a:r>
            <a:r>
              <a:rPr dirty="0" sz="1550" spc="-5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analysis</a:t>
            </a:r>
            <a:r>
              <a:rPr dirty="0" sz="1550" spc="-1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and</a:t>
            </a:r>
            <a:r>
              <a:rPr dirty="0" sz="1550" spc="-65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K-</a:t>
            </a:r>
            <a:r>
              <a:rPr dirty="0" sz="1550" spc="60">
                <a:latin typeface="Trebuchet MS"/>
                <a:cs typeface="Trebuchet MS"/>
              </a:rPr>
              <a:t>Means</a:t>
            </a:r>
            <a:r>
              <a:rPr dirty="0" sz="1550" spc="-15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clustering</a:t>
            </a:r>
            <a:endParaRPr sz="1550">
              <a:latin typeface="Trebuchet MS"/>
              <a:cs typeface="Trebuchet MS"/>
            </a:endParaRPr>
          </a:p>
          <a:p>
            <a:pPr marL="355600" marR="243840" indent="-343535">
              <a:lnSpc>
                <a:spcPts val="1950"/>
              </a:lnSpc>
              <a:spcBef>
                <a:spcPts val="5"/>
              </a:spcBef>
              <a:buAutoNum type="arabicPeriod"/>
              <a:tabLst>
                <a:tab pos="355600" algn="l"/>
              </a:tabLst>
            </a:pPr>
            <a:r>
              <a:rPr dirty="0" sz="1550" spc="70" b="1">
                <a:latin typeface="Trebuchet MS"/>
                <a:cs typeface="Trebuchet MS"/>
              </a:rPr>
              <a:t>Sales</a:t>
            </a:r>
            <a:r>
              <a:rPr dirty="0" sz="1550" spc="-70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Analysis</a:t>
            </a:r>
            <a:r>
              <a:rPr dirty="0" sz="1550">
                <a:latin typeface="Trebuchet MS"/>
                <a:cs typeface="Trebuchet MS"/>
              </a:rPr>
              <a:t>:</a:t>
            </a:r>
            <a:r>
              <a:rPr dirty="0" sz="1550" spc="10">
                <a:latin typeface="Trebuchet MS"/>
                <a:cs typeface="Trebuchet MS"/>
              </a:rPr>
              <a:t> </a:t>
            </a:r>
            <a:r>
              <a:rPr dirty="0" sz="1550" spc="-30">
                <a:latin typeface="Trebuchet MS"/>
                <a:cs typeface="Trebuchet MS"/>
              </a:rPr>
              <a:t>Analyze</a:t>
            </a:r>
            <a:r>
              <a:rPr dirty="0" sz="1550" spc="1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sales</a:t>
            </a:r>
            <a:r>
              <a:rPr dirty="0" sz="1550" spc="-10">
                <a:latin typeface="Trebuchet MS"/>
                <a:cs typeface="Trebuchet MS"/>
              </a:rPr>
              <a:t> </a:t>
            </a:r>
            <a:r>
              <a:rPr dirty="0" sz="1550" spc="-30">
                <a:latin typeface="Trebuchet MS"/>
                <a:cs typeface="Trebuchet MS"/>
              </a:rPr>
              <a:t>trends,</a:t>
            </a:r>
            <a:r>
              <a:rPr dirty="0" sz="1550" spc="-85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seasonality, </a:t>
            </a:r>
            <a:r>
              <a:rPr dirty="0" sz="1550">
                <a:latin typeface="Trebuchet MS"/>
                <a:cs typeface="Trebuchet MS"/>
              </a:rPr>
              <a:t>and</a:t>
            </a:r>
            <a:r>
              <a:rPr dirty="0" sz="1550" spc="-4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product</a:t>
            </a:r>
            <a:r>
              <a:rPr dirty="0" sz="1550" spc="-5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performance</a:t>
            </a:r>
            <a:endParaRPr sz="1550">
              <a:latin typeface="Trebuchet MS"/>
              <a:cs typeface="Trebuchet MS"/>
            </a:endParaRPr>
          </a:p>
          <a:p>
            <a:pPr marL="355600" marR="5080" indent="-343535">
              <a:lnSpc>
                <a:spcPts val="1880"/>
              </a:lnSpc>
              <a:spcBef>
                <a:spcPts val="60"/>
              </a:spcBef>
              <a:buAutoNum type="arabicPeriod"/>
              <a:tabLst>
                <a:tab pos="355600" algn="l"/>
              </a:tabLst>
            </a:pPr>
            <a:r>
              <a:rPr dirty="0" sz="1550" b="1">
                <a:latin typeface="Trebuchet MS"/>
                <a:cs typeface="Trebuchet MS"/>
              </a:rPr>
              <a:t>Marketing</a:t>
            </a:r>
            <a:r>
              <a:rPr dirty="0" sz="1550" spc="-75" b="1">
                <a:latin typeface="Trebuchet MS"/>
                <a:cs typeface="Trebuchet MS"/>
              </a:rPr>
              <a:t> </a:t>
            </a:r>
            <a:r>
              <a:rPr dirty="0" sz="1550" spc="-20" b="1">
                <a:latin typeface="Trebuchet MS"/>
                <a:cs typeface="Trebuchet MS"/>
              </a:rPr>
              <a:t>Optimization</a:t>
            </a:r>
            <a:r>
              <a:rPr dirty="0" sz="1550" spc="-20">
                <a:latin typeface="Trebuchet MS"/>
                <a:cs typeface="Trebuchet MS"/>
              </a:rPr>
              <a:t>:</a:t>
            </a:r>
            <a:r>
              <a:rPr dirty="0" sz="1550">
                <a:latin typeface="Trebuchet MS"/>
                <a:cs typeface="Trebuchet MS"/>
              </a:rPr>
              <a:t> </a:t>
            </a:r>
            <a:r>
              <a:rPr dirty="0" sz="1550" spc="-20">
                <a:latin typeface="Trebuchet MS"/>
                <a:cs typeface="Trebuchet MS"/>
              </a:rPr>
              <a:t>Evaluate</a:t>
            </a:r>
            <a:r>
              <a:rPr dirty="0" sz="1550" spc="-10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customer</a:t>
            </a:r>
            <a:r>
              <a:rPr dirty="0" sz="1550" spc="-5">
                <a:latin typeface="Trebuchet MS"/>
                <a:cs typeface="Trebuchet MS"/>
              </a:rPr>
              <a:t> </a:t>
            </a:r>
            <a:r>
              <a:rPr dirty="0" sz="1550" spc="-20">
                <a:latin typeface="Trebuchet MS"/>
                <a:cs typeface="Trebuchet MS"/>
              </a:rPr>
              <a:t>lifetime </a:t>
            </a:r>
            <a:r>
              <a:rPr dirty="0" sz="1550" spc="-25">
                <a:latin typeface="Trebuchet MS"/>
                <a:cs typeface="Trebuchet MS"/>
              </a:rPr>
              <a:t>value</a:t>
            </a:r>
            <a:r>
              <a:rPr dirty="0" sz="1550" spc="-4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and</a:t>
            </a:r>
            <a:r>
              <a:rPr dirty="0" sz="1550" spc="-105">
                <a:latin typeface="Trebuchet MS"/>
                <a:cs typeface="Trebuchet MS"/>
              </a:rPr>
              <a:t> </a:t>
            </a:r>
            <a:r>
              <a:rPr dirty="0" sz="1550" spc="-25">
                <a:latin typeface="Trebuchet MS"/>
                <a:cs typeface="Trebuchet MS"/>
              </a:rPr>
              <a:t>marketing</a:t>
            </a:r>
            <a:r>
              <a:rPr dirty="0" sz="1550" spc="-5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efficiency</a:t>
            </a:r>
            <a:endParaRPr sz="1550">
              <a:latin typeface="Trebuchet MS"/>
              <a:cs typeface="Trebuchet MS"/>
            </a:endParaRPr>
          </a:p>
          <a:p>
            <a:pPr marL="355600" marR="822325" indent="-343535">
              <a:lnSpc>
                <a:spcPct val="100899"/>
              </a:lnSpc>
              <a:spcBef>
                <a:spcPts val="10"/>
              </a:spcBef>
              <a:buAutoNum type="arabicPeriod"/>
              <a:tabLst>
                <a:tab pos="355600" algn="l"/>
              </a:tabLst>
            </a:pPr>
            <a:r>
              <a:rPr dirty="0" sz="1550" b="1">
                <a:latin typeface="Trebuchet MS"/>
                <a:cs typeface="Trebuchet MS"/>
              </a:rPr>
              <a:t>KPI</a:t>
            </a:r>
            <a:r>
              <a:rPr dirty="0" sz="1550" spc="-10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Design</a:t>
            </a:r>
            <a:r>
              <a:rPr dirty="0" sz="1550">
                <a:latin typeface="Trebuchet MS"/>
                <a:cs typeface="Trebuchet MS"/>
              </a:rPr>
              <a:t>:</a:t>
            </a:r>
            <a:r>
              <a:rPr dirty="0" sz="1550" spc="10">
                <a:latin typeface="Trebuchet MS"/>
                <a:cs typeface="Trebuchet MS"/>
              </a:rPr>
              <a:t> </a:t>
            </a:r>
            <a:r>
              <a:rPr dirty="0" sz="1550" spc="-20">
                <a:latin typeface="Trebuchet MS"/>
                <a:cs typeface="Trebuchet MS"/>
              </a:rPr>
              <a:t>Create</a:t>
            </a:r>
            <a:r>
              <a:rPr dirty="0" sz="1550" spc="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comprehensive</a:t>
            </a:r>
            <a:r>
              <a:rPr dirty="0" sz="1550" spc="-9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metrics </a:t>
            </a:r>
            <a:r>
              <a:rPr dirty="0" sz="1550" spc="-30">
                <a:latin typeface="Trebuchet MS"/>
                <a:cs typeface="Trebuchet MS"/>
              </a:rPr>
              <a:t>framework</a:t>
            </a:r>
            <a:r>
              <a:rPr dirty="0" sz="1550" spc="-160">
                <a:latin typeface="Trebuchet MS"/>
                <a:cs typeface="Trebuchet MS"/>
              </a:rPr>
              <a:t> </a:t>
            </a:r>
            <a:r>
              <a:rPr dirty="0" sz="1550" spc="-35">
                <a:latin typeface="Trebuchet MS"/>
                <a:cs typeface="Trebuchet MS"/>
              </a:rPr>
              <a:t>for</a:t>
            </a:r>
            <a:r>
              <a:rPr dirty="0" sz="1550" spc="-130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business</a:t>
            </a:r>
            <a:r>
              <a:rPr dirty="0" sz="1550" spc="-75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monitoring</a:t>
            </a:r>
            <a:endParaRPr sz="1550">
              <a:latin typeface="Trebuchet MS"/>
              <a:cs typeface="Trebuchet MS"/>
            </a:endParaRPr>
          </a:p>
          <a:p>
            <a:pPr marL="355600" marR="534670" indent="-343535">
              <a:lnSpc>
                <a:spcPct val="105000"/>
              </a:lnSpc>
              <a:buAutoNum type="arabicPeriod"/>
              <a:tabLst>
                <a:tab pos="355600" algn="l"/>
              </a:tabLst>
            </a:pPr>
            <a:r>
              <a:rPr dirty="0" sz="1550" spc="-10" b="1">
                <a:latin typeface="Trebuchet MS"/>
                <a:cs typeface="Trebuchet MS"/>
              </a:rPr>
              <a:t>Visualization</a:t>
            </a:r>
            <a:r>
              <a:rPr dirty="0" sz="1550" spc="-10">
                <a:latin typeface="Trebuchet MS"/>
                <a:cs typeface="Trebuchet MS"/>
              </a:rPr>
              <a:t>:</a:t>
            </a:r>
            <a:r>
              <a:rPr dirty="0" sz="1550" spc="8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Build </a:t>
            </a:r>
            <a:r>
              <a:rPr dirty="0" sz="1550" spc="-40">
                <a:latin typeface="Trebuchet MS"/>
                <a:cs typeface="Trebuchet MS"/>
              </a:rPr>
              <a:t>interactive</a:t>
            </a:r>
            <a:r>
              <a:rPr dirty="0" sz="1550" spc="-3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dashboards</a:t>
            </a:r>
            <a:r>
              <a:rPr dirty="0" sz="1550" spc="-50">
                <a:latin typeface="Trebuchet MS"/>
                <a:cs typeface="Trebuchet MS"/>
              </a:rPr>
              <a:t> </a:t>
            </a:r>
            <a:r>
              <a:rPr dirty="0" sz="1550" spc="-25">
                <a:latin typeface="Trebuchet MS"/>
                <a:cs typeface="Trebuchet MS"/>
              </a:rPr>
              <a:t>for </a:t>
            </a:r>
            <a:r>
              <a:rPr dirty="0" sz="1550" spc="-10">
                <a:latin typeface="Trebuchet MS"/>
                <a:cs typeface="Trebuchet MS"/>
              </a:rPr>
              <a:t>stakeholder</a:t>
            </a:r>
            <a:r>
              <a:rPr dirty="0" sz="1550" spc="-12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communication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7575" y="5216461"/>
            <a:ext cx="5013960" cy="7531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70" b="1">
                <a:latin typeface="Trebuchet MS"/>
                <a:cs typeface="Trebuchet MS"/>
              </a:rPr>
              <a:t>Target</a:t>
            </a:r>
            <a:r>
              <a:rPr dirty="0" sz="1550" spc="-80" b="1">
                <a:latin typeface="Trebuchet MS"/>
                <a:cs typeface="Trebuchet MS"/>
              </a:rPr>
              <a:t> </a:t>
            </a:r>
            <a:r>
              <a:rPr dirty="0" sz="1550" spc="30" b="1">
                <a:latin typeface="Trebuchet MS"/>
                <a:cs typeface="Trebuchet MS"/>
              </a:rPr>
              <a:t>Roles</a:t>
            </a:r>
            <a:endParaRPr sz="155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550" spc="-20">
                <a:latin typeface="Trebuchet MS"/>
                <a:cs typeface="Trebuchet MS"/>
              </a:rPr>
              <a:t>Marketing</a:t>
            </a:r>
            <a:r>
              <a:rPr dirty="0" sz="1550" spc="-50">
                <a:latin typeface="Trebuchet MS"/>
                <a:cs typeface="Trebuchet MS"/>
              </a:rPr>
              <a:t> </a:t>
            </a:r>
            <a:r>
              <a:rPr dirty="0" sz="1550" spc="-20">
                <a:latin typeface="Trebuchet MS"/>
                <a:cs typeface="Trebuchet MS"/>
              </a:rPr>
              <a:t>Analyst;</a:t>
            </a:r>
            <a:r>
              <a:rPr dirty="0" sz="1550" spc="-120">
                <a:latin typeface="Trebuchet MS"/>
                <a:cs typeface="Trebuchet MS"/>
              </a:rPr>
              <a:t> </a:t>
            </a:r>
            <a:r>
              <a:rPr dirty="0" sz="1550" spc="60">
                <a:latin typeface="Trebuchet MS"/>
                <a:cs typeface="Trebuchet MS"/>
              </a:rPr>
              <a:t>Business</a:t>
            </a:r>
            <a:r>
              <a:rPr dirty="0" sz="1550" spc="-135">
                <a:latin typeface="Trebuchet MS"/>
                <a:cs typeface="Trebuchet MS"/>
              </a:rPr>
              <a:t> </a:t>
            </a:r>
            <a:r>
              <a:rPr dirty="0" sz="1550" spc="-30">
                <a:latin typeface="Trebuchet MS"/>
                <a:cs typeface="Trebuchet MS"/>
              </a:rPr>
              <a:t>Intelligence</a:t>
            </a:r>
            <a:r>
              <a:rPr dirty="0" sz="1550" spc="-45">
                <a:latin typeface="Trebuchet MS"/>
                <a:cs typeface="Trebuchet MS"/>
              </a:rPr>
              <a:t> </a:t>
            </a:r>
            <a:r>
              <a:rPr dirty="0" sz="1550" spc="-30">
                <a:latin typeface="Trebuchet MS"/>
                <a:cs typeface="Trebuchet MS"/>
              </a:rPr>
              <a:t>Analyst; </a:t>
            </a:r>
            <a:r>
              <a:rPr dirty="0" sz="1550" spc="-20">
                <a:latin typeface="Trebuchet MS"/>
                <a:cs typeface="Trebuchet MS"/>
              </a:rPr>
              <a:t>Data</a:t>
            </a:r>
            <a:endParaRPr sz="1550">
              <a:latin typeface="Trebuchet MS"/>
              <a:cs typeface="Trebuchet MS"/>
            </a:endParaRPr>
          </a:p>
          <a:p>
            <a:pPr marL="298450">
              <a:lnSpc>
                <a:spcPct val="100000"/>
              </a:lnSpc>
              <a:spcBef>
                <a:spcPts val="95"/>
              </a:spcBef>
            </a:pPr>
            <a:r>
              <a:rPr dirty="0" sz="1550" spc="-20">
                <a:latin typeface="Trebuchet MS"/>
                <a:cs typeface="Trebuchet MS"/>
              </a:rPr>
              <a:t>Analyst;</a:t>
            </a:r>
            <a:r>
              <a:rPr dirty="0" sz="1550" spc="-135">
                <a:latin typeface="Trebuchet MS"/>
                <a:cs typeface="Trebuchet MS"/>
              </a:rPr>
              <a:t> </a:t>
            </a:r>
            <a:r>
              <a:rPr dirty="0" sz="1550" spc="-25">
                <a:latin typeface="Trebuchet MS"/>
                <a:cs typeface="Trebuchet MS"/>
              </a:rPr>
              <a:t>Retail</a:t>
            </a:r>
            <a:r>
              <a:rPr dirty="0" sz="1550" spc="-17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Analytics</a:t>
            </a:r>
            <a:r>
              <a:rPr dirty="0" sz="1550" spc="-7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Specialist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67425" y="2211641"/>
            <a:ext cx="5003165" cy="504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55" b="1">
                <a:latin typeface="Trebuchet MS"/>
                <a:cs typeface="Trebuchet MS"/>
              </a:rPr>
              <a:t>Business</a:t>
            </a:r>
            <a:r>
              <a:rPr dirty="0" sz="1550" spc="-55" b="1">
                <a:latin typeface="Trebuchet MS"/>
                <a:cs typeface="Trebuchet MS"/>
              </a:rPr>
              <a:t> </a:t>
            </a:r>
            <a:r>
              <a:rPr dirty="0" sz="1550" spc="-10" b="1">
                <a:latin typeface="Trebuchet MS"/>
                <a:cs typeface="Trebuchet MS"/>
              </a:rPr>
              <a:t>Problem</a:t>
            </a: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550">
                <a:latin typeface="Trebuchet MS"/>
                <a:cs typeface="Trebuchet MS"/>
              </a:rPr>
              <a:t>A</a:t>
            </a:r>
            <a:r>
              <a:rPr dirty="0" sz="1550" spc="-35">
                <a:latin typeface="Trebuchet MS"/>
                <a:cs typeface="Trebuchet MS"/>
              </a:rPr>
              <a:t> </a:t>
            </a:r>
            <a:r>
              <a:rPr dirty="0" sz="1550" spc="-30">
                <a:latin typeface="Trebuchet MS"/>
                <a:cs typeface="Trebuchet MS"/>
              </a:rPr>
              <a:t>multi-</a:t>
            </a:r>
            <a:r>
              <a:rPr dirty="0" sz="1550">
                <a:latin typeface="Trebuchet MS"/>
                <a:cs typeface="Trebuchet MS"/>
              </a:rPr>
              <a:t>channel</a:t>
            </a:r>
            <a:r>
              <a:rPr dirty="0" sz="1550" spc="-35">
                <a:latin typeface="Trebuchet MS"/>
                <a:cs typeface="Trebuchet MS"/>
              </a:rPr>
              <a:t> </a:t>
            </a:r>
            <a:r>
              <a:rPr dirty="0" sz="1550" spc="-60">
                <a:latin typeface="Trebuchet MS"/>
                <a:cs typeface="Trebuchet MS"/>
              </a:rPr>
              <a:t>retail</a:t>
            </a:r>
            <a:r>
              <a:rPr dirty="0" sz="1550" spc="-4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company</a:t>
            </a:r>
            <a:r>
              <a:rPr dirty="0" sz="1550" spc="-4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faces</a:t>
            </a:r>
            <a:r>
              <a:rPr dirty="0" sz="1550" spc="-20">
                <a:latin typeface="Trebuchet MS"/>
                <a:cs typeface="Trebuchet MS"/>
              </a:rPr>
              <a:t> </a:t>
            </a:r>
            <a:r>
              <a:rPr dirty="0" sz="1550" spc="-25">
                <a:latin typeface="Trebuchet MS"/>
                <a:cs typeface="Trebuchet MS"/>
              </a:rPr>
              <a:t>several</a:t>
            </a:r>
            <a:r>
              <a:rPr dirty="0" sz="1550" spc="-35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challenges: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67425" y="2698178"/>
            <a:ext cx="5498465" cy="25819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98450" marR="547370" indent="-286385">
              <a:lnSpc>
                <a:spcPct val="100899"/>
              </a:lnSpc>
              <a:spcBef>
                <a:spcPts val="11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550" b="1">
                <a:latin typeface="Trebuchet MS"/>
                <a:cs typeface="Trebuchet MS"/>
              </a:rPr>
              <a:t>Declining</a:t>
            </a:r>
            <a:r>
              <a:rPr dirty="0" sz="1550" spc="-80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customer</a:t>
            </a:r>
            <a:r>
              <a:rPr dirty="0" sz="1550" spc="-80" b="1">
                <a:latin typeface="Trebuchet MS"/>
                <a:cs typeface="Trebuchet MS"/>
              </a:rPr>
              <a:t> </a:t>
            </a:r>
            <a:r>
              <a:rPr dirty="0" sz="1550" spc="-35" b="1">
                <a:latin typeface="Trebuchet MS"/>
                <a:cs typeface="Trebuchet MS"/>
              </a:rPr>
              <a:t>retention</a:t>
            </a:r>
            <a:r>
              <a:rPr dirty="0" sz="1550" spc="25" b="1">
                <a:latin typeface="Trebuchet MS"/>
                <a:cs typeface="Trebuchet MS"/>
              </a:rPr>
              <a:t> </a:t>
            </a:r>
            <a:r>
              <a:rPr dirty="0" sz="1550" spc="-20">
                <a:latin typeface="Trebuchet MS"/>
                <a:cs typeface="Trebuchet MS"/>
              </a:rPr>
              <a:t>rates</a:t>
            </a:r>
            <a:r>
              <a:rPr dirty="0" sz="1550" spc="-114">
                <a:latin typeface="Trebuchet MS"/>
                <a:cs typeface="Trebuchet MS"/>
              </a:rPr>
              <a:t> </a:t>
            </a:r>
            <a:r>
              <a:rPr dirty="0" sz="1550" spc="80">
                <a:latin typeface="Trebuchet MS"/>
                <a:cs typeface="Trebuchet MS"/>
              </a:rPr>
              <a:t>(42%</a:t>
            </a:r>
            <a:r>
              <a:rPr dirty="0" sz="1550" spc="-40">
                <a:latin typeface="Trebuchet MS"/>
                <a:cs typeface="Trebuchet MS"/>
              </a:rPr>
              <a:t> </a:t>
            </a:r>
            <a:r>
              <a:rPr dirty="0" sz="1550" spc="55">
                <a:latin typeface="Trebuchet MS"/>
                <a:cs typeface="Trebuchet MS"/>
              </a:rPr>
              <a:t>vs</a:t>
            </a:r>
            <a:r>
              <a:rPr dirty="0" sz="1550" spc="-114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industry </a:t>
            </a:r>
            <a:r>
              <a:rPr dirty="0" sz="1550">
                <a:latin typeface="Trebuchet MS"/>
                <a:cs typeface="Trebuchet MS"/>
              </a:rPr>
              <a:t>benchmark</a:t>
            </a:r>
            <a:r>
              <a:rPr dirty="0" sz="1550" spc="-95">
                <a:latin typeface="Trebuchet MS"/>
                <a:cs typeface="Trebuchet MS"/>
              </a:rPr>
              <a:t> </a:t>
            </a:r>
            <a:r>
              <a:rPr dirty="0" sz="1550" spc="-35">
                <a:latin typeface="Trebuchet MS"/>
                <a:cs typeface="Trebuchet MS"/>
              </a:rPr>
              <a:t>of</a:t>
            </a:r>
            <a:r>
              <a:rPr dirty="0" sz="1550">
                <a:latin typeface="Trebuchet MS"/>
                <a:cs typeface="Trebuchet MS"/>
              </a:rPr>
              <a:t> 45-</a:t>
            </a:r>
            <a:r>
              <a:rPr dirty="0" sz="1550" spc="55">
                <a:latin typeface="Trebuchet MS"/>
                <a:cs typeface="Trebuchet MS"/>
              </a:rPr>
              <a:t>50%)</a:t>
            </a:r>
            <a:endParaRPr sz="1550">
              <a:latin typeface="Trebuchet MS"/>
              <a:cs typeface="Trebuchet MS"/>
            </a:endParaRPr>
          </a:p>
          <a:p>
            <a:pPr marL="298450" marR="831850" indent="-286385">
              <a:lnSpc>
                <a:spcPts val="1950"/>
              </a:lnSpc>
              <a:spcBef>
                <a:spcPts val="8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550" spc="-20" b="1">
                <a:latin typeface="Trebuchet MS"/>
                <a:cs typeface="Trebuchet MS"/>
              </a:rPr>
              <a:t>Limited</a:t>
            </a:r>
            <a:r>
              <a:rPr dirty="0" sz="1550" spc="-65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understanding</a:t>
            </a:r>
            <a:r>
              <a:rPr dirty="0" sz="1550" spc="-30" b="1">
                <a:latin typeface="Trebuchet MS"/>
                <a:cs typeface="Trebuchet MS"/>
              </a:rPr>
              <a:t> </a:t>
            </a:r>
            <a:r>
              <a:rPr dirty="0" sz="1550" spc="-30">
                <a:latin typeface="Trebuchet MS"/>
                <a:cs typeface="Trebuchet MS"/>
              </a:rPr>
              <a:t>of</a:t>
            </a:r>
            <a:r>
              <a:rPr dirty="0" sz="1550" spc="-6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customer</a:t>
            </a:r>
            <a:r>
              <a:rPr dirty="0" sz="1550" spc="-13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behavior</a:t>
            </a:r>
            <a:r>
              <a:rPr dirty="0" sz="1550" spc="-35">
                <a:latin typeface="Trebuchet MS"/>
                <a:cs typeface="Trebuchet MS"/>
              </a:rPr>
              <a:t> </a:t>
            </a:r>
            <a:r>
              <a:rPr dirty="0" sz="1550" spc="-25">
                <a:latin typeface="Trebuchet MS"/>
                <a:cs typeface="Trebuchet MS"/>
              </a:rPr>
              <a:t>and </a:t>
            </a:r>
            <a:r>
              <a:rPr dirty="0" sz="1550" spc="-10">
                <a:latin typeface="Trebuchet MS"/>
                <a:cs typeface="Trebuchet MS"/>
              </a:rPr>
              <a:t>preferences</a:t>
            </a:r>
            <a:endParaRPr sz="1550">
              <a:latin typeface="Trebuchet MS"/>
              <a:cs typeface="Trebuchet MS"/>
            </a:endParaRPr>
          </a:p>
          <a:p>
            <a:pPr marL="298450" indent="-285750">
              <a:lnSpc>
                <a:spcPts val="1800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z="1550" spc="-20" b="1">
                <a:latin typeface="Trebuchet MS"/>
                <a:cs typeface="Trebuchet MS"/>
              </a:rPr>
              <a:t>Inefficient</a:t>
            </a:r>
            <a:r>
              <a:rPr dirty="0" sz="1550" spc="-60" b="1">
                <a:latin typeface="Trebuchet MS"/>
                <a:cs typeface="Trebuchet MS"/>
              </a:rPr>
              <a:t> </a:t>
            </a:r>
            <a:r>
              <a:rPr dirty="0" sz="1550" spc="-10" b="1">
                <a:latin typeface="Trebuchet MS"/>
                <a:cs typeface="Trebuchet MS"/>
              </a:rPr>
              <a:t>marketing</a:t>
            </a:r>
            <a:r>
              <a:rPr dirty="0" sz="1550" spc="-25" b="1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spend</a:t>
            </a:r>
            <a:r>
              <a:rPr dirty="0" sz="1550" spc="10">
                <a:latin typeface="Trebuchet MS"/>
                <a:cs typeface="Trebuchet MS"/>
              </a:rPr>
              <a:t> </a:t>
            </a:r>
            <a:r>
              <a:rPr dirty="0" sz="1550" spc="-30">
                <a:latin typeface="Trebuchet MS"/>
                <a:cs typeface="Trebuchet MS"/>
              </a:rPr>
              <a:t>without</a:t>
            </a:r>
            <a:r>
              <a:rPr dirty="0" sz="1550" spc="-85">
                <a:latin typeface="Trebuchet MS"/>
                <a:cs typeface="Trebuchet MS"/>
              </a:rPr>
              <a:t> </a:t>
            </a:r>
            <a:r>
              <a:rPr dirty="0" sz="1550" spc="-20">
                <a:latin typeface="Trebuchet MS"/>
                <a:cs typeface="Trebuchet MS"/>
              </a:rPr>
              <a:t>proper</a:t>
            </a:r>
            <a:r>
              <a:rPr dirty="0" sz="1550" spc="-10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segmentation</a:t>
            </a:r>
            <a:endParaRPr sz="1550">
              <a:latin typeface="Trebuchet MS"/>
              <a:cs typeface="Trebuchet MS"/>
            </a:endParaRPr>
          </a:p>
          <a:p>
            <a:pPr marL="298450" marR="5080" indent="-286385">
              <a:lnSpc>
                <a:spcPct val="100899"/>
              </a:lnSpc>
              <a:spcBef>
                <a:spcPts val="7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550" b="1">
                <a:latin typeface="Trebuchet MS"/>
                <a:cs typeface="Trebuchet MS"/>
              </a:rPr>
              <a:t>Inconsistent</a:t>
            </a:r>
            <a:r>
              <a:rPr dirty="0" sz="1550" spc="-10" b="1">
                <a:latin typeface="Trebuchet MS"/>
                <a:cs typeface="Trebuchet MS"/>
              </a:rPr>
              <a:t> </a:t>
            </a:r>
            <a:r>
              <a:rPr dirty="0" sz="1550" spc="70" b="1">
                <a:latin typeface="Trebuchet MS"/>
                <a:cs typeface="Trebuchet MS"/>
              </a:rPr>
              <a:t>sales</a:t>
            </a:r>
            <a:r>
              <a:rPr dirty="0" sz="1550" spc="35" b="1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performance</a:t>
            </a:r>
            <a:r>
              <a:rPr dirty="0" sz="1550" spc="3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across</a:t>
            </a:r>
            <a:r>
              <a:rPr dirty="0" sz="1550" spc="2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product</a:t>
            </a:r>
            <a:r>
              <a:rPr dirty="0" sz="1550" spc="-3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categories </a:t>
            </a:r>
            <a:r>
              <a:rPr dirty="0" sz="1550">
                <a:latin typeface="Trebuchet MS"/>
                <a:cs typeface="Trebuchet MS"/>
              </a:rPr>
              <a:t>and</a:t>
            </a:r>
            <a:r>
              <a:rPr dirty="0" sz="1550" spc="-15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regions</a:t>
            </a:r>
            <a:endParaRPr sz="155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550" b="1">
                <a:latin typeface="Trebuchet MS"/>
                <a:cs typeface="Trebuchet MS"/>
              </a:rPr>
              <a:t>Need </a:t>
            </a:r>
            <a:r>
              <a:rPr dirty="0" sz="1550" spc="-50" b="1">
                <a:latin typeface="Trebuchet MS"/>
                <a:cs typeface="Trebuchet MS"/>
              </a:rPr>
              <a:t>for</a:t>
            </a:r>
            <a:r>
              <a:rPr dirty="0" sz="1550" spc="-45" b="1">
                <a:latin typeface="Trebuchet MS"/>
                <a:cs typeface="Trebuchet MS"/>
              </a:rPr>
              <a:t> </a:t>
            </a:r>
            <a:r>
              <a:rPr dirty="0" sz="1550" b="1">
                <a:latin typeface="Trebuchet MS"/>
                <a:cs typeface="Trebuchet MS"/>
              </a:rPr>
              <a:t>data-</a:t>
            </a:r>
            <a:r>
              <a:rPr dirty="0" sz="1550" spc="-35" b="1">
                <a:latin typeface="Trebuchet MS"/>
                <a:cs typeface="Trebuchet MS"/>
              </a:rPr>
              <a:t>driven</a:t>
            </a:r>
            <a:r>
              <a:rPr dirty="0" sz="1550" spc="10" b="1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decision</a:t>
            </a:r>
            <a:r>
              <a:rPr dirty="0" sz="1550" spc="-2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making</a:t>
            </a:r>
            <a:endParaRPr sz="1550">
              <a:latin typeface="Trebuchet MS"/>
              <a:cs typeface="Trebuchet MS"/>
            </a:endParaRPr>
          </a:p>
          <a:p>
            <a:pPr marL="124460">
              <a:lnSpc>
                <a:spcPct val="100000"/>
              </a:lnSpc>
              <a:spcBef>
                <a:spcPts val="1055"/>
              </a:spcBef>
            </a:pPr>
            <a:r>
              <a:rPr dirty="0" sz="1550" spc="55" b="1">
                <a:latin typeface="Trebuchet MS"/>
                <a:cs typeface="Trebuchet MS"/>
              </a:rPr>
              <a:t>Business</a:t>
            </a:r>
            <a:r>
              <a:rPr dirty="0" sz="1550" spc="-75" b="1">
                <a:latin typeface="Trebuchet MS"/>
                <a:cs typeface="Trebuchet MS"/>
              </a:rPr>
              <a:t> </a:t>
            </a:r>
            <a:r>
              <a:rPr dirty="0" sz="1550" spc="-10" b="1">
                <a:latin typeface="Trebuchet MS"/>
                <a:cs typeface="Trebuchet MS"/>
              </a:rPr>
              <a:t>Questions</a:t>
            </a:r>
            <a:endParaRPr sz="1550">
              <a:latin typeface="Trebuchet MS"/>
              <a:cs typeface="Trebuchet MS"/>
            </a:endParaRPr>
          </a:p>
          <a:p>
            <a:pPr lvl="1" marL="467359" indent="-342900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467359" algn="l"/>
              </a:tabLst>
            </a:pPr>
            <a:r>
              <a:rPr dirty="0" sz="1550" spc="50">
                <a:latin typeface="Trebuchet MS"/>
                <a:cs typeface="Trebuchet MS"/>
              </a:rPr>
              <a:t>Who</a:t>
            </a:r>
            <a:r>
              <a:rPr dirty="0" sz="1550" spc="-95">
                <a:latin typeface="Trebuchet MS"/>
                <a:cs typeface="Trebuchet MS"/>
              </a:rPr>
              <a:t> </a:t>
            </a:r>
            <a:r>
              <a:rPr dirty="0" sz="1550" spc="-35">
                <a:latin typeface="Trebuchet MS"/>
                <a:cs typeface="Trebuchet MS"/>
              </a:rPr>
              <a:t>are</a:t>
            </a:r>
            <a:r>
              <a:rPr dirty="0" sz="1550" spc="-4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our</a:t>
            </a:r>
            <a:r>
              <a:rPr dirty="0" sz="1550" spc="-12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most</a:t>
            </a:r>
            <a:r>
              <a:rPr dirty="0" sz="1550" spc="-11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valuable</a:t>
            </a:r>
            <a:r>
              <a:rPr dirty="0" sz="1550" spc="-13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customers?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79439" y="5261927"/>
            <a:ext cx="5428615" cy="10007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5"/>
              </a:spcBef>
              <a:buAutoNum type="arabicPeriod" startAt="2"/>
              <a:tabLst>
                <a:tab pos="355600" algn="l"/>
              </a:tabLst>
            </a:pPr>
            <a:r>
              <a:rPr dirty="0" sz="1550">
                <a:latin typeface="Trebuchet MS"/>
                <a:cs typeface="Trebuchet MS"/>
              </a:rPr>
              <a:t>What</a:t>
            </a:r>
            <a:r>
              <a:rPr dirty="0" sz="1550" spc="-105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drives</a:t>
            </a:r>
            <a:r>
              <a:rPr dirty="0" sz="1550" spc="-5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customer</a:t>
            </a:r>
            <a:r>
              <a:rPr dirty="0" sz="1550" spc="-40">
                <a:latin typeface="Trebuchet MS"/>
                <a:cs typeface="Trebuchet MS"/>
              </a:rPr>
              <a:t> </a:t>
            </a:r>
            <a:r>
              <a:rPr dirty="0" sz="1550" spc="-50">
                <a:latin typeface="Trebuchet MS"/>
                <a:cs typeface="Trebuchet MS"/>
              </a:rPr>
              <a:t>retention</a:t>
            </a:r>
            <a:r>
              <a:rPr dirty="0" sz="1550" spc="-8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and</a:t>
            </a:r>
            <a:r>
              <a:rPr dirty="0" sz="1550" spc="-15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churn?</a:t>
            </a:r>
            <a:endParaRPr sz="155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20"/>
              </a:spcBef>
              <a:buAutoNum type="arabicPeriod" startAt="2"/>
              <a:tabLst>
                <a:tab pos="355600" algn="l"/>
              </a:tabLst>
            </a:pPr>
            <a:r>
              <a:rPr dirty="0" sz="1550">
                <a:latin typeface="Trebuchet MS"/>
                <a:cs typeface="Trebuchet MS"/>
              </a:rPr>
              <a:t>How</a:t>
            </a:r>
            <a:r>
              <a:rPr dirty="0" sz="1550" spc="-145">
                <a:latin typeface="Trebuchet MS"/>
                <a:cs typeface="Trebuchet MS"/>
              </a:rPr>
              <a:t> </a:t>
            </a:r>
            <a:r>
              <a:rPr dirty="0" sz="1550" spc="50">
                <a:latin typeface="Trebuchet MS"/>
                <a:cs typeface="Trebuchet MS"/>
              </a:rPr>
              <a:t>can</a:t>
            </a:r>
            <a:r>
              <a:rPr dirty="0" sz="1550" spc="-100">
                <a:latin typeface="Trebuchet MS"/>
                <a:cs typeface="Trebuchet MS"/>
              </a:rPr>
              <a:t> </a:t>
            </a:r>
            <a:r>
              <a:rPr dirty="0" sz="1550" spc="-40">
                <a:latin typeface="Trebuchet MS"/>
                <a:cs typeface="Trebuchet MS"/>
              </a:rPr>
              <a:t>we</a:t>
            </a:r>
            <a:r>
              <a:rPr dirty="0" sz="1550" spc="-55">
                <a:latin typeface="Trebuchet MS"/>
                <a:cs typeface="Trebuchet MS"/>
              </a:rPr>
              <a:t> </a:t>
            </a:r>
            <a:r>
              <a:rPr dirty="0" sz="1550" spc="-30">
                <a:latin typeface="Trebuchet MS"/>
                <a:cs typeface="Trebuchet MS"/>
              </a:rPr>
              <a:t>optimize</a:t>
            </a:r>
            <a:r>
              <a:rPr dirty="0" sz="1550" spc="-14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our</a:t>
            </a:r>
            <a:r>
              <a:rPr dirty="0" sz="1550" spc="-5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product</a:t>
            </a:r>
            <a:r>
              <a:rPr dirty="0" sz="1550" spc="-114">
                <a:latin typeface="Trebuchet MS"/>
                <a:cs typeface="Trebuchet MS"/>
              </a:rPr>
              <a:t> </a:t>
            </a:r>
            <a:r>
              <a:rPr dirty="0" sz="1550" spc="-20">
                <a:latin typeface="Trebuchet MS"/>
                <a:cs typeface="Trebuchet MS"/>
              </a:rPr>
              <a:t>mix?</a:t>
            </a:r>
            <a:endParaRPr sz="155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90"/>
              </a:spcBef>
              <a:buAutoNum type="arabicPeriod" startAt="2"/>
              <a:tabLst>
                <a:tab pos="355600" algn="l"/>
              </a:tabLst>
            </a:pPr>
            <a:r>
              <a:rPr dirty="0" sz="1550">
                <a:latin typeface="Trebuchet MS"/>
                <a:cs typeface="Trebuchet MS"/>
              </a:rPr>
              <a:t>Which</a:t>
            </a:r>
            <a:r>
              <a:rPr dirty="0" sz="1550" spc="-95">
                <a:latin typeface="Trebuchet MS"/>
                <a:cs typeface="Trebuchet MS"/>
              </a:rPr>
              <a:t> </a:t>
            </a:r>
            <a:r>
              <a:rPr dirty="0" sz="1550" spc="-25">
                <a:latin typeface="Trebuchet MS"/>
                <a:cs typeface="Trebuchet MS"/>
              </a:rPr>
              <a:t>marketing</a:t>
            </a:r>
            <a:r>
              <a:rPr dirty="0" sz="1550" spc="-145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strategies</a:t>
            </a:r>
            <a:r>
              <a:rPr dirty="0" sz="1550" spc="-145">
                <a:latin typeface="Trebuchet MS"/>
                <a:cs typeface="Trebuchet MS"/>
              </a:rPr>
              <a:t> </a:t>
            </a:r>
            <a:r>
              <a:rPr dirty="0" sz="1550" spc="-40">
                <a:latin typeface="Trebuchet MS"/>
                <a:cs typeface="Trebuchet MS"/>
              </a:rPr>
              <a:t>deliver</a:t>
            </a:r>
            <a:r>
              <a:rPr dirty="0" sz="1550" spc="-125">
                <a:latin typeface="Trebuchet MS"/>
                <a:cs typeface="Trebuchet MS"/>
              </a:rPr>
              <a:t> </a:t>
            </a:r>
            <a:r>
              <a:rPr dirty="0" sz="1550" spc="-30">
                <a:latin typeface="Trebuchet MS"/>
                <a:cs typeface="Trebuchet MS"/>
              </a:rPr>
              <a:t>the</a:t>
            </a:r>
            <a:r>
              <a:rPr dirty="0" sz="1550" spc="-4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best</a:t>
            </a:r>
            <a:r>
              <a:rPr dirty="0" sz="1550" spc="-110">
                <a:latin typeface="Trebuchet MS"/>
                <a:cs typeface="Trebuchet MS"/>
              </a:rPr>
              <a:t> </a:t>
            </a:r>
            <a:r>
              <a:rPr dirty="0" sz="1550" spc="65">
                <a:latin typeface="Trebuchet MS"/>
                <a:cs typeface="Trebuchet MS"/>
              </a:rPr>
              <a:t>ROI?</a:t>
            </a:r>
            <a:endParaRPr sz="155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buAutoNum type="arabicPeriod" startAt="2"/>
              <a:tabLst>
                <a:tab pos="355600" algn="l"/>
              </a:tabLst>
            </a:pPr>
            <a:r>
              <a:rPr dirty="0" sz="1550">
                <a:latin typeface="Trebuchet MS"/>
                <a:cs typeface="Trebuchet MS"/>
              </a:rPr>
              <a:t>What</a:t>
            </a:r>
            <a:r>
              <a:rPr dirty="0" sz="1550" spc="-114">
                <a:latin typeface="Trebuchet MS"/>
                <a:cs typeface="Trebuchet MS"/>
              </a:rPr>
              <a:t> </a:t>
            </a:r>
            <a:r>
              <a:rPr dirty="0" sz="1550" spc="-35">
                <a:latin typeface="Trebuchet MS"/>
                <a:cs typeface="Trebuchet MS"/>
              </a:rPr>
              <a:t>are</a:t>
            </a:r>
            <a:r>
              <a:rPr dirty="0" sz="1550" spc="-55">
                <a:latin typeface="Trebuchet MS"/>
                <a:cs typeface="Trebuchet MS"/>
              </a:rPr>
              <a:t> </a:t>
            </a:r>
            <a:r>
              <a:rPr dirty="0" sz="1550" spc="-35">
                <a:latin typeface="Trebuchet MS"/>
                <a:cs typeface="Trebuchet MS"/>
              </a:rPr>
              <a:t>the</a:t>
            </a:r>
            <a:r>
              <a:rPr dirty="0" sz="1550" spc="-135">
                <a:latin typeface="Trebuchet MS"/>
                <a:cs typeface="Trebuchet MS"/>
              </a:rPr>
              <a:t> </a:t>
            </a:r>
            <a:r>
              <a:rPr dirty="0" sz="1550" spc="-50">
                <a:latin typeface="Trebuchet MS"/>
                <a:cs typeface="Trebuchet MS"/>
              </a:rPr>
              <a:t>key</a:t>
            </a:r>
            <a:r>
              <a:rPr dirty="0" sz="1550" spc="-85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performance</a:t>
            </a:r>
            <a:r>
              <a:rPr dirty="0" sz="1550" spc="-55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indicators</a:t>
            </a:r>
            <a:r>
              <a:rPr dirty="0" sz="1550" spc="-65">
                <a:latin typeface="Trebuchet MS"/>
                <a:cs typeface="Trebuchet MS"/>
              </a:rPr>
              <a:t> </a:t>
            </a:r>
            <a:r>
              <a:rPr dirty="0" sz="1550" spc="-40">
                <a:latin typeface="Trebuchet MS"/>
                <a:cs typeface="Trebuchet MS"/>
              </a:rPr>
              <a:t>we</a:t>
            </a:r>
            <a:r>
              <a:rPr dirty="0" sz="1550" spc="-5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should</a:t>
            </a:r>
            <a:r>
              <a:rPr dirty="0" sz="1550" spc="-25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track?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5986" rIns="0" bIns="0" rtlCol="0" vert="horz">
            <a:spAutoFit/>
          </a:bodyPr>
          <a:lstStyle/>
          <a:p>
            <a:pPr marL="309245">
              <a:lnSpc>
                <a:spcPct val="100000"/>
              </a:lnSpc>
              <a:spcBef>
                <a:spcPts val="130"/>
              </a:spcBef>
            </a:pPr>
            <a:r>
              <a:rPr dirty="0" spc="-254"/>
              <a:t>Project</a:t>
            </a:r>
            <a:r>
              <a:rPr dirty="0" spc="-540"/>
              <a:t> </a:t>
            </a:r>
            <a:r>
              <a:rPr dirty="0" spc="-204"/>
              <a:t>Overview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41443" y="1895475"/>
            <a:ext cx="11250930" cy="4476750"/>
            <a:chOff x="941443" y="1895475"/>
            <a:chExt cx="11250930" cy="44767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1700" y="1895475"/>
              <a:ext cx="5010150" cy="2476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1443" y="4329545"/>
              <a:ext cx="4050798" cy="192751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91050" y="4181475"/>
              <a:ext cx="5010150" cy="21907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39099" y="4181475"/>
              <a:ext cx="4152900" cy="174307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913130" y="1911286"/>
            <a:ext cx="4707255" cy="212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289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02895" algn="l"/>
              </a:tabLst>
            </a:pPr>
            <a:r>
              <a:rPr dirty="0" sz="1800" b="1">
                <a:latin typeface="Arial"/>
                <a:cs typeface="Arial"/>
              </a:rPr>
              <a:t>Primary</a:t>
            </a:r>
            <a:r>
              <a:rPr dirty="0" sz="1800">
                <a:latin typeface="Arial MT"/>
                <a:cs typeface="Arial MT"/>
              </a:rPr>
              <a:t>: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u="sng" sz="180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Arial MT"/>
                <a:cs typeface="Arial MT"/>
                <a:hlinkClick r:id="rId6"/>
              </a:rPr>
              <a:t>Kaggle</a:t>
            </a:r>
            <a:r>
              <a:rPr dirty="0" u="sng" sz="1800" spc="-5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80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Arial MT"/>
                <a:cs typeface="Arial MT"/>
                <a:hlinkClick r:id="rId6"/>
              </a:rPr>
              <a:t>-</a:t>
            </a:r>
            <a:r>
              <a:rPr dirty="0" u="sng" sz="1800" spc="-25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80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Arial MT"/>
                <a:cs typeface="Arial MT"/>
                <a:hlinkClick r:id="rId6"/>
              </a:rPr>
              <a:t>Retail</a:t>
            </a:r>
            <a:r>
              <a:rPr dirty="0" u="sng" sz="1800" spc="-3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Arial MT"/>
                <a:cs typeface="Arial MT"/>
                <a:hlinkClick r:id="rId6"/>
              </a:rPr>
              <a:t> </a:t>
            </a:r>
            <a:r>
              <a:rPr dirty="0" u="sng" sz="180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Arial MT"/>
                <a:cs typeface="Arial MT"/>
                <a:hlinkClick r:id="rId6"/>
              </a:rPr>
              <a:t>Sales </a:t>
            </a:r>
            <a:r>
              <a:rPr dirty="0" u="sng" sz="1800" spc="-1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Arial MT"/>
                <a:cs typeface="Arial MT"/>
                <a:hlinkClick r:id="rId6"/>
              </a:rPr>
              <a:t>Dataset</a:t>
            </a:r>
            <a:endParaRPr sz="1800">
              <a:latin typeface="Arial MT"/>
              <a:cs typeface="Arial MT"/>
            </a:endParaRPr>
          </a:p>
          <a:p>
            <a:pPr marL="302895" indent="-28638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02895" algn="l"/>
              </a:tabLst>
            </a:pPr>
            <a:r>
              <a:rPr dirty="0" sz="1800" spc="-20" b="1">
                <a:latin typeface="Arial"/>
                <a:cs typeface="Arial"/>
              </a:rPr>
              <a:t>Type</a:t>
            </a:r>
            <a:r>
              <a:rPr dirty="0" sz="1800" spc="-20">
                <a:latin typeface="Arial MT"/>
                <a:cs typeface="Arial MT"/>
              </a:rPr>
              <a:t>:</a:t>
            </a:r>
            <a:r>
              <a:rPr dirty="0" sz="1800" spc="-10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Transactional</a:t>
            </a:r>
            <a:r>
              <a:rPr dirty="0" sz="1800" spc="-9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retail</a:t>
            </a:r>
            <a:r>
              <a:rPr dirty="0" sz="1800" spc="-80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data</a:t>
            </a:r>
            <a:endParaRPr sz="1800">
              <a:latin typeface="Arial MT"/>
              <a:cs typeface="Arial MT"/>
            </a:endParaRPr>
          </a:p>
          <a:p>
            <a:pPr marL="302895" indent="-286385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302895" algn="l"/>
              </a:tabLst>
            </a:pPr>
            <a:r>
              <a:rPr dirty="0" sz="1800" b="1">
                <a:latin typeface="Arial"/>
                <a:cs typeface="Arial"/>
              </a:rPr>
              <a:t>Size</a:t>
            </a:r>
            <a:r>
              <a:rPr dirty="0" sz="1800">
                <a:latin typeface="Arial MT"/>
                <a:cs typeface="Arial MT"/>
              </a:rPr>
              <a:t>: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~10,000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transactions</a:t>
            </a:r>
            <a:endParaRPr sz="1800">
              <a:latin typeface="Arial MT"/>
              <a:cs typeface="Arial MT"/>
            </a:endParaRPr>
          </a:p>
          <a:p>
            <a:pPr marL="302895" marR="5080" indent="-286385">
              <a:lnSpc>
                <a:spcPct val="100800"/>
              </a:lnSpc>
              <a:spcBef>
                <a:spcPts val="5"/>
              </a:spcBef>
              <a:buFont typeface="Arial MT"/>
              <a:buChar char="•"/>
              <a:tabLst>
                <a:tab pos="302895" algn="l"/>
              </a:tabLst>
            </a:pPr>
            <a:r>
              <a:rPr dirty="0" sz="1800" b="1">
                <a:latin typeface="Arial"/>
                <a:cs typeface="Arial"/>
              </a:rPr>
              <a:t>Time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Period</a:t>
            </a:r>
            <a:r>
              <a:rPr dirty="0" sz="1800">
                <a:latin typeface="Arial MT"/>
                <a:cs typeface="Arial MT"/>
              </a:rPr>
              <a:t>: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2022-2024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(adjustable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based </a:t>
            </a:r>
            <a:r>
              <a:rPr dirty="0" sz="1800">
                <a:latin typeface="Arial MT"/>
                <a:cs typeface="Arial MT"/>
              </a:rPr>
              <a:t>on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actual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data)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600" spc="-45" b="1">
                <a:latin typeface="Trebuchet MS"/>
                <a:cs typeface="Trebuchet MS"/>
              </a:rPr>
              <a:t>Technologies</a:t>
            </a:r>
            <a:r>
              <a:rPr dirty="0" sz="2600" spc="-204" b="1">
                <a:latin typeface="Trebuchet MS"/>
                <a:cs typeface="Trebuchet MS"/>
              </a:rPr>
              <a:t> </a:t>
            </a:r>
            <a:r>
              <a:rPr dirty="0" sz="2600" spc="-20" b="1">
                <a:latin typeface="Trebuchet MS"/>
                <a:cs typeface="Trebuchet MS"/>
              </a:rPr>
              <a:t>Used: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7575" y="1409128"/>
            <a:ext cx="1308100" cy="42608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10" b="1">
                <a:latin typeface="Trebuchet MS"/>
                <a:cs typeface="Trebuchet MS"/>
              </a:rPr>
              <a:t>Dataset: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00496" y="1409128"/>
            <a:ext cx="2062480" cy="42608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80" b="1">
                <a:latin typeface="Trebuchet MS"/>
                <a:cs typeface="Trebuchet MS"/>
              </a:rPr>
              <a:t>Key</a:t>
            </a:r>
            <a:r>
              <a:rPr dirty="0" sz="2600" spc="-245" b="1">
                <a:latin typeface="Trebuchet MS"/>
                <a:cs typeface="Trebuchet MS"/>
              </a:rPr>
              <a:t> </a:t>
            </a:r>
            <a:r>
              <a:rPr dirty="0" sz="2600" spc="-45" b="1">
                <a:latin typeface="Trebuchet MS"/>
                <a:cs typeface="Trebuchet MS"/>
              </a:rPr>
              <a:t>Features:</a:t>
            </a:r>
            <a:endParaRPr sz="2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4645" rIns="0" bIns="0" rtlCol="0" vert="horz">
            <a:spAutoFit/>
          </a:bodyPr>
          <a:lstStyle/>
          <a:p>
            <a:pPr marL="280035">
              <a:lnSpc>
                <a:spcPct val="100000"/>
              </a:lnSpc>
              <a:spcBef>
                <a:spcPts val="130"/>
              </a:spcBef>
            </a:pPr>
            <a:r>
              <a:rPr dirty="0" spc="-254"/>
              <a:t>Project</a:t>
            </a:r>
            <a:r>
              <a:rPr dirty="0" spc="-509"/>
              <a:t> </a:t>
            </a:r>
            <a:r>
              <a:rPr dirty="0" spc="-165"/>
              <a:t>Workflow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344025" y="6457950"/>
            <a:ext cx="2847975" cy="400050"/>
            <a:chOff x="9344025" y="6457950"/>
            <a:chExt cx="2847975" cy="400050"/>
          </a:xfrm>
        </p:grpSpPr>
        <p:sp>
          <p:nvSpPr>
            <p:cNvPr id="4" name="object 4"/>
            <p:cNvSpPr/>
            <p:nvPr/>
          </p:nvSpPr>
          <p:spPr>
            <a:xfrm>
              <a:off x="9401175" y="6496050"/>
              <a:ext cx="2790825" cy="361950"/>
            </a:xfrm>
            <a:custGeom>
              <a:avLst/>
              <a:gdLst/>
              <a:ahLst/>
              <a:cxnLst/>
              <a:rect l="l" t="t" r="r" b="b"/>
              <a:pathLst>
                <a:path w="2790825" h="361950">
                  <a:moveTo>
                    <a:pt x="2790825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2790825" y="361950"/>
                  </a:lnTo>
                  <a:lnTo>
                    <a:pt x="2790825" y="0"/>
                  </a:lnTo>
                  <a:close/>
                </a:path>
              </a:pathLst>
            </a:custGeom>
            <a:solidFill>
              <a:srgbClr val="FAE2D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44025" y="6457950"/>
              <a:ext cx="547687" cy="395287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9793985" y="6515734"/>
            <a:ext cx="132778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rebuchet MS"/>
                <a:cs typeface="Trebuchet MS"/>
              </a:rPr>
              <a:t>END-</a:t>
            </a:r>
            <a:r>
              <a:rPr dirty="0" sz="1800" spc="-75">
                <a:latin typeface="Trebuchet MS"/>
                <a:cs typeface="Trebuchet MS"/>
              </a:rPr>
              <a:t>TO-</a:t>
            </a:r>
            <a:r>
              <a:rPr dirty="0" sz="1800" spc="55">
                <a:latin typeface="Trebuchet MS"/>
                <a:cs typeface="Trebuchet MS"/>
              </a:rPr>
              <a:t>END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7575" y="1706816"/>
            <a:ext cx="4764405" cy="1950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rebuchet MS"/>
                <a:cs typeface="Trebuchet MS"/>
              </a:rPr>
              <a:t>Phase</a:t>
            </a:r>
            <a:r>
              <a:rPr dirty="0" sz="1800" spc="-145" b="1">
                <a:latin typeface="Trebuchet MS"/>
                <a:cs typeface="Trebuchet MS"/>
              </a:rPr>
              <a:t> </a:t>
            </a:r>
            <a:r>
              <a:rPr dirty="0" sz="1800" spc="-114" b="1">
                <a:latin typeface="Trebuchet MS"/>
                <a:cs typeface="Trebuchet MS"/>
              </a:rPr>
              <a:t>1:</a:t>
            </a:r>
            <a:r>
              <a:rPr dirty="0" sz="1800" spc="-130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Data</a:t>
            </a:r>
            <a:r>
              <a:rPr dirty="0" sz="1800" spc="-135" b="1">
                <a:latin typeface="Trebuchet MS"/>
                <a:cs typeface="Trebuchet MS"/>
              </a:rPr>
              <a:t> </a:t>
            </a:r>
            <a:r>
              <a:rPr dirty="0" sz="1800" spc="-50" b="1">
                <a:latin typeface="Trebuchet MS"/>
                <a:cs typeface="Trebuchet MS"/>
              </a:rPr>
              <a:t>Preparation</a:t>
            </a:r>
            <a:r>
              <a:rPr dirty="0" sz="1800" spc="-190" b="1">
                <a:latin typeface="Trebuchet MS"/>
                <a:cs typeface="Trebuchet MS"/>
              </a:rPr>
              <a:t> </a:t>
            </a:r>
            <a:r>
              <a:rPr dirty="0" sz="1800" spc="-70" b="1">
                <a:latin typeface="Trebuchet MS"/>
                <a:cs typeface="Trebuchet MS"/>
              </a:rPr>
              <a:t>(Refer</a:t>
            </a:r>
            <a:r>
              <a:rPr dirty="0" sz="1800" spc="-105" b="1">
                <a:latin typeface="Trebuchet MS"/>
                <a:cs typeface="Trebuchet MS"/>
              </a:rPr>
              <a:t> </a:t>
            </a:r>
            <a:r>
              <a:rPr dirty="0" sz="1800" spc="-60" b="1">
                <a:latin typeface="Trebuchet MS"/>
                <a:cs typeface="Trebuchet MS"/>
              </a:rPr>
              <a:t>to</a:t>
            </a:r>
            <a:r>
              <a:rPr dirty="0" sz="1800" spc="-95" b="1">
                <a:latin typeface="Trebuchet MS"/>
                <a:cs typeface="Trebuchet MS"/>
              </a:rPr>
              <a:t> </a:t>
            </a:r>
            <a:r>
              <a:rPr dirty="0" sz="1800" spc="-10" b="1">
                <a:latin typeface="Trebuchet MS"/>
                <a:cs typeface="Trebuchet MS"/>
              </a:rPr>
              <a:t>Notebook)</a:t>
            </a: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spc="-10">
                <a:latin typeface="Trebuchet MS"/>
                <a:cs typeface="Trebuchet MS"/>
              </a:rPr>
              <a:t>Data</a:t>
            </a:r>
            <a:r>
              <a:rPr dirty="0" sz="1800" spc="-114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acquisition</a:t>
            </a:r>
            <a:r>
              <a:rPr dirty="0" sz="1800" spc="-150">
                <a:latin typeface="Trebuchet MS"/>
                <a:cs typeface="Trebuchet MS"/>
              </a:rPr>
              <a:t> </a:t>
            </a:r>
            <a:r>
              <a:rPr dirty="0" sz="1800" spc="-60">
                <a:latin typeface="Trebuchet MS"/>
                <a:cs typeface="Trebuchet MS"/>
              </a:rPr>
              <a:t>from</a:t>
            </a:r>
            <a:r>
              <a:rPr dirty="0" sz="1800" spc="-17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Kaggle</a:t>
            </a: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spc="-75">
                <a:latin typeface="Trebuchet MS"/>
                <a:cs typeface="Trebuchet MS"/>
              </a:rPr>
              <a:t>Initial</a:t>
            </a:r>
            <a:r>
              <a:rPr dirty="0" sz="1800" spc="-145">
                <a:latin typeface="Trebuchet MS"/>
                <a:cs typeface="Trebuchet MS"/>
              </a:rPr>
              <a:t> </a:t>
            </a:r>
            <a:r>
              <a:rPr dirty="0" sz="1800" spc="-40">
                <a:latin typeface="Trebuchet MS"/>
                <a:cs typeface="Trebuchet MS"/>
              </a:rPr>
              <a:t>data</a:t>
            </a:r>
            <a:r>
              <a:rPr dirty="0" sz="1800" spc="-100">
                <a:latin typeface="Trebuchet MS"/>
                <a:cs typeface="Trebuchet MS"/>
              </a:rPr>
              <a:t> </a:t>
            </a:r>
            <a:r>
              <a:rPr dirty="0" sz="1800" spc="-65">
                <a:latin typeface="Trebuchet MS"/>
                <a:cs typeface="Trebuchet MS"/>
              </a:rPr>
              <a:t>quality</a:t>
            </a:r>
            <a:r>
              <a:rPr dirty="0" sz="1800" spc="-11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assessment</a:t>
            </a: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ts val="2130"/>
              </a:lnSpc>
              <a:spcBef>
                <a:spcPts val="1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>
                <a:latin typeface="Trebuchet MS"/>
                <a:cs typeface="Trebuchet MS"/>
              </a:rPr>
              <a:t>Missing</a:t>
            </a:r>
            <a:r>
              <a:rPr dirty="0" sz="1800" spc="-110">
                <a:latin typeface="Trebuchet MS"/>
                <a:cs typeface="Trebuchet MS"/>
              </a:rPr>
              <a:t> </a:t>
            </a:r>
            <a:r>
              <a:rPr dirty="0" sz="1800" spc="-50">
                <a:latin typeface="Trebuchet MS"/>
                <a:cs typeface="Trebuchet MS"/>
              </a:rPr>
              <a:t>value</a:t>
            </a:r>
            <a:r>
              <a:rPr dirty="0" sz="1800" spc="-10">
                <a:latin typeface="Trebuchet MS"/>
                <a:cs typeface="Trebuchet MS"/>
              </a:rPr>
              <a:t> treatment</a:t>
            </a: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ts val="2130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z="1800" spc="-60">
                <a:latin typeface="Trebuchet MS"/>
                <a:cs typeface="Trebuchet MS"/>
              </a:rPr>
              <a:t>Outlier</a:t>
            </a:r>
            <a:r>
              <a:rPr dirty="0" sz="1800" spc="-130">
                <a:latin typeface="Trebuchet MS"/>
                <a:cs typeface="Trebuchet MS"/>
              </a:rPr>
              <a:t> </a:t>
            </a:r>
            <a:r>
              <a:rPr dirty="0" sz="1800" spc="-50">
                <a:latin typeface="Trebuchet MS"/>
                <a:cs typeface="Trebuchet MS"/>
              </a:rPr>
              <a:t>detection</a:t>
            </a:r>
            <a:r>
              <a:rPr dirty="0" sz="1800" spc="-1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and</a:t>
            </a:r>
            <a:r>
              <a:rPr dirty="0" sz="1800" spc="-16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handling</a:t>
            </a: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spc="-70">
                <a:latin typeface="Trebuchet MS"/>
                <a:cs typeface="Trebuchet MS"/>
              </a:rPr>
              <a:t>Feature</a:t>
            </a:r>
            <a:r>
              <a:rPr dirty="0" sz="1800" spc="-9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engineering</a:t>
            </a: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spc="-10">
                <a:latin typeface="Trebuchet MS"/>
                <a:cs typeface="Trebuchet MS"/>
              </a:rPr>
              <a:t>Data</a:t>
            </a:r>
            <a:r>
              <a:rPr dirty="0" sz="1800" spc="-125">
                <a:latin typeface="Trebuchet MS"/>
                <a:cs typeface="Trebuchet MS"/>
              </a:rPr>
              <a:t> </a:t>
            </a:r>
            <a:r>
              <a:rPr dirty="0" sz="1800" spc="-75">
                <a:latin typeface="Trebuchet MS"/>
                <a:cs typeface="Trebuchet MS"/>
              </a:rPr>
              <a:t>type</a:t>
            </a:r>
            <a:r>
              <a:rPr dirty="0" sz="1800" spc="-19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optimization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7575" y="4328223"/>
            <a:ext cx="3585845" cy="1673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spc="-60">
                <a:latin typeface="Trebuchet MS"/>
                <a:cs typeface="Trebuchet MS"/>
              </a:rPr>
              <a:t>Univariate</a:t>
            </a:r>
            <a:r>
              <a:rPr dirty="0" sz="1800" spc="-17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analysis</a:t>
            </a:r>
            <a:r>
              <a:rPr dirty="0" sz="1800" spc="-90">
                <a:latin typeface="Trebuchet MS"/>
                <a:cs typeface="Trebuchet MS"/>
              </a:rPr>
              <a:t> </a:t>
            </a:r>
            <a:r>
              <a:rPr dirty="0" sz="1800" spc="-35">
                <a:latin typeface="Trebuchet MS"/>
                <a:cs typeface="Trebuchet MS"/>
              </a:rPr>
              <a:t>(distributions)</a:t>
            </a: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spc="-60">
                <a:latin typeface="Trebuchet MS"/>
                <a:cs typeface="Trebuchet MS"/>
              </a:rPr>
              <a:t>Bivariate</a:t>
            </a:r>
            <a:r>
              <a:rPr dirty="0" sz="1800" spc="-19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analysis</a:t>
            </a:r>
            <a:r>
              <a:rPr dirty="0" sz="1800" spc="-114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(relationships)</a:t>
            </a: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ts val="2130"/>
              </a:lnSpc>
              <a:spcBef>
                <a:spcPts val="1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spc="-75">
                <a:latin typeface="Trebuchet MS"/>
                <a:cs typeface="Trebuchet MS"/>
              </a:rPr>
              <a:t>Time</a:t>
            </a:r>
            <a:r>
              <a:rPr dirty="0" sz="1800" spc="-19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series</a:t>
            </a:r>
            <a:r>
              <a:rPr dirty="0" sz="1800" spc="-20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patterns</a:t>
            </a: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ts val="2130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z="1800">
                <a:latin typeface="Trebuchet MS"/>
                <a:cs typeface="Trebuchet MS"/>
              </a:rPr>
              <a:t>Customer</a:t>
            </a:r>
            <a:r>
              <a:rPr dirty="0" sz="1800" spc="-180">
                <a:latin typeface="Trebuchet MS"/>
                <a:cs typeface="Trebuchet MS"/>
              </a:rPr>
              <a:t> </a:t>
            </a:r>
            <a:r>
              <a:rPr dirty="0" sz="1800" spc="-45">
                <a:latin typeface="Trebuchet MS"/>
                <a:cs typeface="Trebuchet MS"/>
              </a:rPr>
              <a:t>behavior</a:t>
            </a:r>
            <a:r>
              <a:rPr dirty="0" sz="1800" spc="-8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analysis</a:t>
            </a: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spc="-30">
                <a:latin typeface="Trebuchet MS"/>
                <a:cs typeface="Trebuchet MS"/>
              </a:rPr>
              <a:t>Product</a:t>
            </a:r>
            <a:r>
              <a:rPr dirty="0" sz="1800" spc="-90">
                <a:latin typeface="Trebuchet MS"/>
                <a:cs typeface="Trebuchet MS"/>
              </a:rPr>
              <a:t> </a:t>
            </a:r>
            <a:r>
              <a:rPr dirty="0" sz="1800" spc="-40">
                <a:latin typeface="Trebuchet MS"/>
                <a:cs typeface="Trebuchet MS"/>
              </a:rPr>
              <a:t>performance</a:t>
            </a:r>
            <a:r>
              <a:rPr dirty="0" sz="1800" spc="-16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analysis</a:t>
            </a: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spc="-40">
                <a:latin typeface="Trebuchet MS"/>
                <a:cs typeface="Trebuchet MS"/>
              </a:rPr>
              <a:t>Correlation</a:t>
            </a:r>
            <a:r>
              <a:rPr dirty="0" sz="1800" spc="-9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analysis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7575" y="4051617"/>
            <a:ext cx="987552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rebuchet MS"/>
                <a:cs typeface="Trebuchet MS"/>
              </a:rPr>
              <a:t>Phase</a:t>
            </a:r>
            <a:r>
              <a:rPr dirty="0" sz="1800" spc="-170" b="1">
                <a:latin typeface="Trebuchet MS"/>
                <a:cs typeface="Trebuchet MS"/>
              </a:rPr>
              <a:t> </a:t>
            </a:r>
            <a:r>
              <a:rPr dirty="0" sz="1800" spc="-114" b="1">
                <a:latin typeface="Trebuchet MS"/>
                <a:cs typeface="Trebuchet MS"/>
              </a:rPr>
              <a:t>2:</a:t>
            </a:r>
            <a:r>
              <a:rPr dirty="0" sz="1800" spc="-160" b="1">
                <a:latin typeface="Trebuchet MS"/>
                <a:cs typeface="Trebuchet MS"/>
              </a:rPr>
              <a:t> </a:t>
            </a:r>
            <a:r>
              <a:rPr dirty="0" sz="1800" spc="-55" b="1">
                <a:latin typeface="Trebuchet MS"/>
                <a:cs typeface="Trebuchet MS"/>
              </a:rPr>
              <a:t>Exploratory</a:t>
            </a:r>
            <a:r>
              <a:rPr dirty="0" sz="1800" spc="-135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Analysis</a:t>
            </a:r>
            <a:r>
              <a:rPr dirty="0" sz="1800" spc="-175" b="1">
                <a:latin typeface="Trebuchet MS"/>
                <a:cs typeface="Trebuchet MS"/>
              </a:rPr>
              <a:t> </a:t>
            </a:r>
            <a:r>
              <a:rPr dirty="0" sz="1800" spc="-70" b="1">
                <a:latin typeface="Trebuchet MS"/>
                <a:cs typeface="Trebuchet MS"/>
              </a:rPr>
              <a:t>(Refer</a:t>
            </a:r>
            <a:r>
              <a:rPr dirty="0" sz="1800" spc="-135" b="1">
                <a:latin typeface="Trebuchet MS"/>
                <a:cs typeface="Trebuchet MS"/>
              </a:rPr>
              <a:t> </a:t>
            </a:r>
            <a:r>
              <a:rPr dirty="0" sz="1800" spc="-60" b="1">
                <a:latin typeface="Trebuchet MS"/>
                <a:cs typeface="Trebuchet MS"/>
              </a:rPr>
              <a:t>to</a:t>
            </a:r>
            <a:r>
              <a:rPr dirty="0" sz="1800" spc="-125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Notebook)</a:t>
            </a:r>
            <a:r>
              <a:rPr dirty="0" sz="1800" spc="140" b="1">
                <a:latin typeface="Trebuchet MS"/>
                <a:cs typeface="Trebuchet MS"/>
              </a:rPr>
              <a:t>  </a:t>
            </a:r>
            <a:r>
              <a:rPr dirty="0" sz="1800" b="1">
                <a:latin typeface="Trebuchet MS"/>
                <a:cs typeface="Trebuchet MS"/>
              </a:rPr>
              <a:t>Phase</a:t>
            </a:r>
            <a:r>
              <a:rPr dirty="0" sz="1800" spc="-175" b="1">
                <a:latin typeface="Trebuchet MS"/>
                <a:cs typeface="Trebuchet MS"/>
              </a:rPr>
              <a:t> </a:t>
            </a:r>
            <a:r>
              <a:rPr dirty="0" sz="1800" spc="-114" b="1">
                <a:latin typeface="Trebuchet MS"/>
                <a:cs typeface="Trebuchet MS"/>
              </a:rPr>
              <a:t>4:</a:t>
            </a:r>
            <a:r>
              <a:rPr dirty="0" sz="1800" spc="-160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KPI</a:t>
            </a:r>
            <a:r>
              <a:rPr dirty="0" sz="1800" spc="-155" b="1">
                <a:latin typeface="Trebuchet MS"/>
                <a:cs typeface="Trebuchet MS"/>
              </a:rPr>
              <a:t> </a:t>
            </a:r>
            <a:r>
              <a:rPr dirty="0" sz="1800" spc="440" b="1">
                <a:latin typeface="Trebuchet MS"/>
                <a:cs typeface="Trebuchet MS"/>
              </a:rPr>
              <a:t>s</a:t>
            </a:r>
            <a:r>
              <a:rPr dirty="0" sz="1800" spc="-160" b="1">
                <a:latin typeface="Trebuchet MS"/>
                <a:cs typeface="Trebuchet MS"/>
              </a:rPr>
              <a:t> </a:t>
            </a:r>
            <a:r>
              <a:rPr dirty="0" sz="1800" spc="-40" b="1">
                <a:latin typeface="Trebuchet MS"/>
                <a:cs typeface="Trebuchet MS"/>
              </a:rPr>
              <a:t>Reporting</a:t>
            </a:r>
            <a:r>
              <a:rPr dirty="0" sz="1800" spc="-170" b="1">
                <a:latin typeface="Trebuchet MS"/>
                <a:cs typeface="Trebuchet MS"/>
              </a:rPr>
              <a:t> </a:t>
            </a:r>
            <a:r>
              <a:rPr dirty="0" sz="1800" spc="-70" b="1">
                <a:latin typeface="Trebuchet MS"/>
                <a:cs typeface="Trebuchet MS"/>
              </a:rPr>
              <a:t>(Refer</a:t>
            </a:r>
            <a:r>
              <a:rPr dirty="0" sz="1800" spc="-135" b="1">
                <a:latin typeface="Trebuchet MS"/>
                <a:cs typeface="Trebuchet MS"/>
              </a:rPr>
              <a:t> </a:t>
            </a:r>
            <a:r>
              <a:rPr dirty="0" sz="1800" spc="-60" b="1">
                <a:latin typeface="Trebuchet MS"/>
                <a:cs typeface="Trebuchet MS"/>
              </a:rPr>
              <a:t>to</a:t>
            </a:r>
            <a:r>
              <a:rPr dirty="0" sz="1800" spc="-125" b="1">
                <a:latin typeface="Trebuchet MS"/>
                <a:cs typeface="Trebuchet MS"/>
              </a:rPr>
              <a:t> </a:t>
            </a:r>
            <a:r>
              <a:rPr dirty="0" sz="1800" spc="-10" b="1">
                <a:latin typeface="Trebuchet MS"/>
                <a:cs typeface="Trebuchet MS"/>
              </a:rPr>
              <a:t>Notebook)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79439" y="1706816"/>
            <a:ext cx="5041900" cy="1950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rebuchet MS"/>
                <a:cs typeface="Trebuchet MS"/>
              </a:rPr>
              <a:t>Phase</a:t>
            </a:r>
            <a:r>
              <a:rPr dirty="0" sz="1800" spc="-155" b="1">
                <a:latin typeface="Trebuchet MS"/>
                <a:cs typeface="Trebuchet MS"/>
              </a:rPr>
              <a:t> </a:t>
            </a:r>
            <a:r>
              <a:rPr dirty="0" sz="1800" spc="-114" b="1">
                <a:latin typeface="Trebuchet MS"/>
                <a:cs typeface="Trebuchet MS"/>
              </a:rPr>
              <a:t>3:</a:t>
            </a:r>
            <a:r>
              <a:rPr dirty="0" sz="1800" spc="-130" b="1">
                <a:latin typeface="Trebuchet MS"/>
                <a:cs typeface="Trebuchet MS"/>
              </a:rPr>
              <a:t> </a:t>
            </a:r>
            <a:r>
              <a:rPr dirty="0" sz="1800" spc="-25" b="1">
                <a:latin typeface="Trebuchet MS"/>
                <a:cs typeface="Trebuchet MS"/>
              </a:rPr>
              <a:t>Advanced</a:t>
            </a:r>
            <a:r>
              <a:rPr dirty="0" sz="1800" spc="-125" b="1">
                <a:latin typeface="Trebuchet MS"/>
                <a:cs typeface="Trebuchet MS"/>
              </a:rPr>
              <a:t> </a:t>
            </a:r>
            <a:r>
              <a:rPr dirty="0" sz="1800" spc="-10" b="1">
                <a:latin typeface="Trebuchet MS"/>
                <a:cs typeface="Trebuchet MS"/>
              </a:rPr>
              <a:t>Analytics</a:t>
            </a:r>
            <a:r>
              <a:rPr dirty="0" sz="1800" spc="-150" b="1">
                <a:latin typeface="Trebuchet MS"/>
                <a:cs typeface="Trebuchet MS"/>
              </a:rPr>
              <a:t> </a:t>
            </a:r>
            <a:r>
              <a:rPr dirty="0" sz="1800" spc="-85" b="1">
                <a:latin typeface="Trebuchet MS"/>
                <a:cs typeface="Trebuchet MS"/>
              </a:rPr>
              <a:t>(Refer</a:t>
            </a:r>
            <a:r>
              <a:rPr dirty="0" sz="1800" spc="-110" b="1">
                <a:latin typeface="Trebuchet MS"/>
                <a:cs typeface="Trebuchet MS"/>
              </a:rPr>
              <a:t> </a:t>
            </a:r>
            <a:r>
              <a:rPr dirty="0" sz="1800" spc="-60" b="1">
                <a:latin typeface="Trebuchet MS"/>
                <a:cs typeface="Trebuchet MS"/>
              </a:rPr>
              <a:t>to</a:t>
            </a:r>
            <a:r>
              <a:rPr dirty="0" sz="1800" spc="-100" b="1">
                <a:latin typeface="Trebuchet MS"/>
                <a:cs typeface="Trebuchet MS"/>
              </a:rPr>
              <a:t> </a:t>
            </a:r>
            <a:r>
              <a:rPr dirty="0" sz="1800" spc="-10" b="1">
                <a:latin typeface="Trebuchet MS"/>
                <a:cs typeface="Trebuchet MS"/>
              </a:rPr>
              <a:t>Notebook)</a:t>
            </a:r>
            <a:endParaRPr sz="1800">
              <a:latin typeface="Trebuchet MS"/>
              <a:cs typeface="Trebuchet MS"/>
            </a:endParaRPr>
          </a:p>
          <a:p>
            <a:pPr marL="12700" marR="539115">
              <a:lnSpc>
                <a:spcPct val="100800"/>
              </a:lnSpc>
              <a:spcBef>
                <a:spcPts val="5"/>
              </a:spcBef>
            </a:pPr>
            <a:r>
              <a:rPr dirty="0" sz="1800" spc="50">
                <a:latin typeface="Trebuchet MS"/>
                <a:cs typeface="Trebuchet MS"/>
              </a:rPr>
              <a:t>RFM</a:t>
            </a:r>
            <a:r>
              <a:rPr dirty="0" sz="1800" spc="-114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Analysis</a:t>
            </a:r>
            <a:r>
              <a:rPr dirty="0" sz="1800" spc="-95">
                <a:latin typeface="Trebuchet MS"/>
                <a:cs typeface="Trebuchet MS"/>
              </a:rPr>
              <a:t> </a:t>
            </a:r>
            <a:r>
              <a:rPr dirty="0" sz="1800" spc="-65">
                <a:latin typeface="Trebuchet MS"/>
                <a:cs typeface="Trebuchet MS"/>
              </a:rPr>
              <a:t>(Recency,</a:t>
            </a:r>
            <a:r>
              <a:rPr dirty="0" sz="1800" spc="-105">
                <a:latin typeface="Trebuchet MS"/>
                <a:cs typeface="Trebuchet MS"/>
              </a:rPr>
              <a:t> </a:t>
            </a:r>
            <a:r>
              <a:rPr dirty="0" sz="1800" spc="-65">
                <a:latin typeface="Trebuchet MS"/>
                <a:cs typeface="Trebuchet MS"/>
              </a:rPr>
              <a:t>Frequency,</a:t>
            </a:r>
            <a:r>
              <a:rPr dirty="0" sz="1800" spc="-110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Monetary) </a:t>
            </a:r>
            <a:r>
              <a:rPr dirty="0" sz="1800" spc="-80">
                <a:latin typeface="Trebuchet MS"/>
                <a:cs typeface="Trebuchet MS"/>
              </a:rPr>
              <a:t>K-</a:t>
            </a:r>
            <a:r>
              <a:rPr dirty="0" sz="1800" spc="50">
                <a:latin typeface="Trebuchet MS"/>
                <a:cs typeface="Trebuchet MS"/>
              </a:rPr>
              <a:t>Means</a:t>
            </a:r>
            <a:r>
              <a:rPr dirty="0" sz="1800" spc="-215">
                <a:latin typeface="Trebuchet MS"/>
                <a:cs typeface="Trebuchet MS"/>
              </a:rPr>
              <a:t> </a:t>
            </a:r>
            <a:r>
              <a:rPr dirty="0" sz="1800" spc="-15">
                <a:latin typeface="Trebuchet MS"/>
                <a:cs typeface="Trebuchet MS"/>
              </a:rPr>
              <a:t>Clustering</a:t>
            </a:r>
            <a:r>
              <a:rPr dirty="0" sz="1800" spc="-130">
                <a:latin typeface="Trebuchet MS"/>
                <a:cs typeface="Trebuchet MS"/>
              </a:rPr>
              <a:t> </a:t>
            </a:r>
            <a:r>
              <a:rPr dirty="0" sz="1800" spc="-75">
                <a:latin typeface="Trebuchet MS"/>
                <a:cs typeface="Trebuchet MS"/>
              </a:rPr>
              <a:t>(4</a:t>
            </a:r>
            <a:r>
              <a:rPr dirty="0" sz="1800" spc="-2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customer</a:t>
            </a:r>
            <a:r>
              <a:rPr dirty="0" sz="1800" spc="-16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segments) Cluster</a:t>
            </a:r>
            <a:r>
              <a:rPr dirty="0" sz="1800" spc="-155">
                <a:latin typeface="Trebuchet MS"/>
                <a:cs typeface="Trebuchet MS"/>
              </a:rPr>
              <a:t> </a:t>
            </a:r>
            <a:r>
              <a:rPr dirty="0" sz="1800" spc="-65">
                <a:latin typeface="Trebuchet MS"/>
                <a:cs typeface="Trebuchet MS"/>
              </a:rPr>
              <a:t>profiling</a:t>
            </a:r>
            <a:r>
              <a:rPr dirty="0" sz="1800" spc="-1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and</a:t>
            </a:r>
            <a:r>
              <a:rPr dirty="0" sz="1800" spc="-19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naming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ts val="2105"/>
              </a:lnSpc>
            </a:pPr>
            <a:r>
              <a:rPr dirty="0" sz="1800" spc="-40">
                <a:latin typeface="Trebuchet MS"/>
                <a:cs typeface="Trebuchet MS"/>
              </a:rPr>
              <a:t>Market</a:t>
            </a:r>
            <a:r>
              <a:rPr dirty="0" sz="1800" spc="-19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Basket</a:t>
            </a:r>
            <a:r>
              <a:rPr dirty="0" sz="1800" spc="-11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Analysis</a:t>
            </a:r>
            <a:r>
              <a:rPr dirty="0" sz="1800" spc="-10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(optional)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800" spc="-10">
                <a:latin typeface="Trebuchet MS"/>
                <a:cs typeface="Trebuchet MS"/>
              </a:rPr>
              <a:t>Cohort</a:t>
            </a:r>
            <a:r>
              <a:rPr dirty="0" sz="1800" spc="-125">
                <a:latin typeface="Trebuchet MS"/>
                <a:cs typeface="Trebuchet MS"/>
              </a:rPr>
              <a:t> </a:t>
            </a:r>
            <a:r>
              <a:rPr dirty="0" sz="1800" spc="-75">
                <a:latin typeface="Trebuchet MS"/>
                <a:cs typeface="Trebuchet MS"/>
              </a:rPr>
              <a:t>retention</a:t>
            </a:r>
            <a:r>
              <a:rPr dirty="0" sz="1800" spc="-15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analysis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800">
                <a:latin typeface="Trebuchet MS"/>
                <a:cs typeface="Trebuchet MS"/>
              </a:rPr>
              <a:t>Customer</a:t>
            </a:r>
            <a:r>
              <a:rPr dirty="0" sz="1800" spc="-200">
                <a:latin typeface="Trebuchet MS"/>
                <a:cs typeface="Trebuchet MS"/>
              </a:rPr>
              <a:t> </a:t>
            </a:r>
            <a:r>
              <a:rPr dirty="0" sz="1800" spc="-70">
                <a:latin typeface="Trebuchet MS"/>
                <a:cs typeface="Trebuchet MS"/>
              </a:rPr>
              <a:t>Lifetime</a:t>
            </a:r>
            <a:r>
              <a:rPr dirty="0" sz="1800" spc="-160">
                <a:latin typeface="Trebuchet MS"/>
                <a:cs typeface="Trebuchet MS"/>
              </a:rPr>
              <a:t> </a:t>
            </a:r>
            <a:r>
              <a:rPr dirty="0" sz="1800" spc="-50">
                <a:latin typeface="Trebuchet MS"/>
                <a:cs typeface="Trebuchet MS"/>
              </a:rPr>
              <a:t>Value</a:t>
            </a:r>
            <a:r>
              <a:rPr dirty="0" sz="1800" spc="-7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calculation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79439" y="4328223"/>
            <a:ext cx="3782060" cy="1673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spc="-10">
                <a:latin typeface="Trebuchet MS"/>
                <a:cs typeface="Trebuchet MS"/>
              </a:rPr>
              <a:t>Comprehensive</a:t>
            </a:r>
            <a:r>
              <a:rPr dirty="0" sz="1800" spc="-125">
                <a:latin typeface="Trebuchet MS"/>
                <a:cs typeface="Trebuchet MS"/>
              </a:rPr>
              <a:t> </a:t>
            </a:r>
            <a:r>
              <a:rPr dirty="0" sz="1800" spc="-30">
                <a:latin typeface="Trebuchet MS"/>
                <a:cs typeface="Trebuchet MS"/>
              </a:rPr>
              <a:t>KPI</a:t>
            </a:r>
            <a:r>
              <a:rPr dirty="0" sz="1800" spc="-17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framework</a:t>
            </a: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spc="-20">
                <a:latin typeface="Trebuchet MS"/>
                <a:cs typeface="Trebuchet MS"/>
              </a:rPr>
              <a:t>Monthly</a:t>
            </a:r>
            <a:r>
              <a:rPr dirty="0" sz="1800" spc="-200">
                <a:latin typeface="Trebuchet MS"/>
                <a:cs typeface="Trebuchet MS"/>
              </a:rPr>
              <a:t> </a:t>
            </a:r>
            <a:r>
              <a:rPr dirty="0" sz="1800" spc="-55">
                <a:latin typeface="Trebuchet MS"/>
                <a:cs typeface="Trebuchet MS"/>
              </a:rPr>
              <a:t>trend</a:t>
            </a:r>
            <a:r>
              <a:rPr dirty="0" sz="1800" spc="-16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analysis</a:t>
            </a: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ts val="2130"/>
              </a:lnSpc>
              <a:spcBef>
                <a:spcPts val="1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spc="-30">
                <a:latin typeface="Trebuchet MS"/>
                <a:cs typeface="Trebuchet MS"/>
              </a:rPr>
              <a:t>Category</a:t>
            </a:r>
            <a:r>
              <a:rPr dirty="0" sz="1800" spc="-204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and</a:t>
            </a:r>
            <a:r>
              <a:rPr dirty="0" sz="1800" spc="-85">
                <a:latin typeface="Trebuchet MS"/>
                <a:cs typeface="Trebuchet MS"/>
              </a:rPr>
              <a:t> </a:t>
            </a:r>
            <a:r>
              <a:rPr dirty="0" sz="1800" spc="-50">
                <a:latin typeface="Trebuchet MS"/>
                <a:cs typeface="Trebuchet MS"/>
              </a:rPr>
              <a:t>regional</a:t>
            </a:r>
            <a:r>
              <a:rPr dirty="0" sz="1800" spc="-150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performance</a:t>
            </a: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ts val="2130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z="1800" spc="-65">
                <a:latin typeface="Trebuchet MS"/>
                <a:cs typeface="Trebuchet MS"/>
              </a:rPr>
              <a:t>Executive</a:t>
            </a:r>
            <a:r>
              <a:rPr dirty="0" sz="1800" spc="-9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summary</a:t>
            </a:r>
            <a:r>
              <a:rPr dirty="0" sz="1800" spc="-10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report</a:t>
            </a: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>
                <a:latin typeface="Trebuchet MS"/>
                <a:cs typeface="Trebuchet MS"/>
              </a:rPr>
              <a:t>Dashboard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 spc="-40">
                <a:latin typeface="Trebuchet MS"/>
                <a:cs typeface="Trebuchet MS"/>
              </a:rPr>
              <a:t>data</a:t>
            </a:r>
            <a:r>
              <a:rPr dirty="0" sz="1800" spc="-15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preparation</a:t>
            </a: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00" spc="-55">
                <a:latin typeface="Trebuchet MS"/>
                <a:cs typeface="Trebuchet MS"/>
              </a:rPr>
              <a:t>Strategic</a:t>
            </a:r>
            <a:r>
              <a:rPr dirty="0" sz="1800" spc="-14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recommendations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4645" rIns="0" bIns="0" rtlCol="0" vert="horz">
            <a:spAutoFit/>
          </a:bodyPr>
          <a:lstStyle/>
          <a:p>
            <a:pPr marL="19685">
              <a:lnSpc>
                <a:spcPct val="100000"/>
              </a:lnSpc>
              <a:spcBef>
                <a:spcPts val="130"/>
              </a:spcBef>
            </a:pPr>
            <a:r>
              <a:rPr dirty="0" spc="-254"/>
              <a:t>Learning</a:t>
            </a:r>
            <a:r>
              <a:rPr dirty="0" spc="-470"/>
              <a:t> </a:t>
            </a:r>
            <a:r>
              <a:rPr dirty="0" spc="-85"/>
              <a:t>Outcomes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315450" y="6457950"/>
            <a:ext cx="2876550" cy="400050"/>
            <a:chOff x="9315450" y="6457950"/>
            <a:chExt cx="2876550" cy="400050"/>
          </a:xfrm>
        </p:grpSpPr>
        <p:sp>
          <p:nvSpPr>
            <p:cNvPr id="4" name="object 4"/>
            <p:cNvSpPr/>
            <p:nvPr/>
          </p:nvSpPr>
          <p:spPr>
            <a:xfrm>
              <a:off x="9363075" y="6496050"/>
              <a:ext cx="2828925" cy="361950"/>
            </a:xfrm>
            <a:custGeom>
              <a:avLst/>
              <a:gdLst/>
              <a:ahLst/>
              <a:cxnLst/>
              <a:rect l="l" t="t" r="r" b="b"/>
              <a:pathLst>
                <a:path w="2828925" h="361950">
                  <a:moveTo>
                    <a:pt x="2828925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2828925" y="361950"/>
                  </a:lnTo>
                  <a:lnTo>
                    <a:pt x="2828925" y="0"/>
                  </a:lnTo>
                  <a:close/>
                </a:path>
              </a:pathLst>
            </a:custGeom>
            <a:solidFill>
              <a:srgbClr val="FAE2D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15450" y="6457950"/>
              <a:ext cx="585787" cy="395287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790575" y="1933511"/>
            <a:ext cx="595630" cy="2938780"/>
            <a:chOff x="790575" y="1933511"/>
            <a:chExt cx="595630" cy="293878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0575" y="1933511"/>
              <a:ext cx="595312" cy="47148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0575" y="2209736"/>
              <a:ext cx="595312" cy="47148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0575" y="2485961"/>
              <a:ext cx="595312" cy="47148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0575" y="2762186"/>
              <a:ext cx="595312" cy="47148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0575" y="3028886"/>
              <a:ext cx="595312" cy="47148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0575" y="3305111"/>
              <a:ext cx="595312" cy="47148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0575" y="3581336"/>
              <a:ext cx="595312" cy="47148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0575" y="3857561"/>
              <a:ext cx="595312" cy="47148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0575" y="4133786"/>
              <a:ext cx="595312" cy="47148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0575" y="4400486"/>
              <a:ext cx="595312" cy="471487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917575" y="1706816"/>
            <a:ext cx="4760595" cy="3047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latin typeface="Trebuchet MS"/>
                <a:cs typeface="Trebuchet MS"/>
              </a:rPr>
              <a:t>Technical</a:t>
            </a:r>
            <a:r>
              <a:rPr dirty="0" sz="1800" spc="-125" b="1">
                <a:latin typeface="Trebuchet MS"/>
                <a:cs typeface="Trebuchet MS"/>
              </a:rPr>
              <a:t> </a:t>
            </a:r>
            <a:r>
              <a:rPr dirty="0" sz="1800" spc="-10" b="1">
                <a:latin typeface="Trebuchet MS"/>
                <a:cs typeface="Trebuchet MS"/>
              </a:rPr>
              <a:t>Skills</a:t>
            </a:r>
            <a:endParaRPr sz="1800">
              <a:latin typeface="Trebuchet MS"/>
              <a:cs typeface="Trebuchet MS"/>
            </a:endParaRPr>
          </a:p>
          <a:p>
            <a:pPr marL="373380">
              <a:lnSpc>
                <a:spcPct val="100000"/>
              </a:lnSpc>
              <a:spcBef>
                <a:spcPts val="20"/>
              </a:spcBef>
            </a:pPr>
            <a:r>
              <a:rPr dirty="0" sz="1800" spc="-10">
                <a:latin typeface="Trebuchet MS"/>
                <a:cs typeface="Trebuchet MS"/>
              </a:rPr>
              <a:t>Data</a:t>
            </a:r>
            <a:r>
              <a:rPr dirty="0" sz="1800" spc="-125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acquisition</a:t>
            </a:r>
            <a:r>
              <a:rPr dirty="0" sz="1800" spc="-1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and</a:t>
            </a:r>
            <a:r>
              <a:rPr dirty="0" sz="1800" spc="-175">
                <a:latin typeface="Trebuchet MS"/>
                <a:cs typeface="Trebuchet MS"/>
              </a:rPr>
              <a:t> </a:t>
            </a:r>
            <a:r>
              <a:rPr dirty="0" sz="1800" spc="-60">
                <a:latin typeface="Trebuchet MS"/>
                <a:cs typeface="Trebuchet MS"/>
              </a:rPr>
              <a:t>ETL</a:t>
            </a:r>
            <a:r>
              <a:rPr dirty="0" sz="1800" spc="-14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processes</a:t>
            </a:r>
            <a:endParaRPr sz="1800">
              <a:latin typeface="Trebuchet MS"/>
              <a:cs typeface="Trebuchet MS"/>
            </a:endParaRPr>
          </a:p>
          <a:p>
            <a:pPr marL="373380" marR="5080">
              <a:lnSpc>
                <a:spcPct val="100800"/>
              </a:lnSpc>
            </a:pPr>
            <a:r>
              <a:rPr dirty="0" sz="1800" spc="-10">
                <a:latin typeface="Trebuchet MS"/>
                <a:cs typeface="Trebuchet MS"/>
              </a:rPr>
              <a:t>Data</a:t>
            </a:r>
            <a:r>
              <a:rPr dirty="0" sz="1800" spc="-105">
                <a:latin typeface="Trebuchet MS"/>
                <a:cs typeface="Trebuchet MS"/>
              </a:rPr>
              <a:t> </a:t>
            </a:r>
            <a:r>
              <a:rPr dirty="0" sz="1800" spc="-35">
                <a:latin typeface="Trebuchet MS"/>
                <a:cs typeface="Trebuchet MS"/>
              </a:rPr>
              <a:t>cleaning</a:t>
            </a:r>
            <a:r>
              <a:rPr dirty="0" sz="1800" spc="-17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and</a:t>
            </a:r>
            <a:r>
              <a:rPr dirty="0" sz="1800" spc="-75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preprocessing</a:t>
            </a:r>
            <a:r>
              <a:rPr dirty="0" sz="1800" spc="-9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techniques </a:t>
            </a:r>
            <a:r>
              <a:rPr dirty="0" sz="1800" spc="-60">
                <a:latin typeface="Trebuchet MS"/>
                <a:cs typeface="Trebuchet MS"/>
              </a:rPr>
              <a:t>Exploratory</a:t>
            </a:r>
            <a:r>
              <a:rPr dirty="0" sz="1800" spc="-114">
                <a:latin typeface="Trebuchet MS"/>
                <a:cs typeface="Trebuchet MS"/>
              </a:rPr>
              <a:t> </a:t>
            </a:r>
            <a:r>
              <a:rPr dirty="0" sz="1800" spc="-40">
                <a:latin typeface="Trebuchet MS"/>
                <a:cs typeface="Trebuchet MS"/>
              </a:rPr>
              <a:t>data</a:t>
            </a:r>
            <a:r>
              <a:rPr dirty="0" sz="1800" spc="-19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analysis</a:t>
            </a:r>
            <a:r>
              <a:rPr dirty="0" sz="1800" spc="-95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(EDA)</a:t>
            </a:r>
            <a:endParaRPr sz="1800">
              <a:latin typeface="Trebuchet MS"/>
              <a:cs typeface="Trebuchet MS"/>
            </a:endParaRPr>
          </a:p>
          <a:p>
            <a:pPr marL="373380" marR="282575">
              <a:lnSpc>
                <a:spcPct val="100000"/>
              </a:lnSpc>
              <a:spcBef>
                <a:spcPts val="20"/>
              </a:spcBef>
            </a:pPr>
            <a:r>
              <a:rPr dirty="0" sz="1800" spc="-40">
                <a:latin typeface="Trebuchet MS"/>
                <a:cs typeface="Trebuchet MS"/>
              </a:rPr>
              <a:t>Statistical</a:t>
            </a:r>
            <a:r>
              <a:rPr dirty="0" sz="1800" spc="-1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analysis</a:t>
            </a:r>
            <a:r>
              <a:rPr dirty="0" sz="1800" spc="-17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and</a:t>
            </a:r>
            <a:r>
              <a:rPr dirty="0" sz="1800" spc="-75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hypothesis</a:t>
            </a:r>
            <a:r>
              <a:rPr dirty="0" sz="1800" spc="-90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testing </a:t>
            </a:r>
            <a:r>
              <a:rPr dirty="0" sz="1800">
                <a:latin typeface="Trebuchet MS"/>
                <a:cs typeface="Trebuchet MS"/>
              </a:rPr>
              <a:t>Machine</a:t>
            </a:r>
            <a:r>
              <a:rPr dirty="0" sz="1800" spc="-160">
                <a:latin typeface="Trebuchet MS"/>
                <a:cs typeface="Trebuchet MS"/>
              </a:rPr>
              <a:t> </a:t>
            </a:r>
            <a:r>
              <a:rPr dirty="0" sz="1800" spc="-50">
                <a:latin typeface="Trebuchet MS"/>
                <a:cs typeface="Trebuchet MS"/>
              </a:rPr>
              <a:t>learning</a:t>
            </a:r>
            <a:r>
              <a:rPr dirty="0" sz="1800" spc="-155">
                <a:latin typeface="Trebuchet MS"/>
                <a:cs typeface="Trebuchet MS"/>
              </a:rPr>
              <a:t> </a:t>
            </a:r>
            <a:r>
              <a:rPr dirty="0" sz="1800" spc="-95">
                <a:latin typeface="Trebuchet MS"/>
                <a:cs typeface="Trebuchet MS"/>
              </a:rPr>
              <a:t>(K-</a:t>
            </a:r>
            <a:r>
              <a:rPr dirty="0" sz="1800" spc="50">
                <a:latin typeface="Trebuchet MS"/>
                <a:cs typeface="Trebuchet MS"/>
              </a:rPr>
              <a:t>Means</a:t>
            </a:r>
            <a:r>
              <a:rPr dirty="0" sz="1800" spc="-16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clustering) </a:t>
            </a:r>
            <a:r>
              <a:rPr dirty="0" sz="1800">
                <a:latin typeface="Trebuchet MS"/>
                <a:cs typeface="Trebuchet MS"/>
              </a:rPr>
              <a:t>Customer</a:t>
            </a:r>
            <a:r>
              <a:rPr dirty="0" sz="1800" spc="-195">
                <a:latin typeface="Trebuchet MS"/>
                <a:cs typeface="Trebuchet MS"/>
              </a:rPr>
              <a:t> </a:t>
            </a:r>
            <a:r>
              <a:rPr dirty="0" sz="1800" spc="-30">
                <a:latin typeface="Trebuchet MS"/>
                <a:cs typeface="Trebuchet MS"/>
              </a:rPr>
              <a:t>segmentation</a:t>
            </a:r>
            <a:r>
              <a:rPr dirty="0" sz="1800" spc="-1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(RFM</a:t>
            </a:r>
            <a:r>
              <a:rPr dirty="0" sz="1800" spc="-9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analysis) Data</a:t>
            </a:r>
            <a:r>
              <a:rPr dirty="0" sz="1800" spc="-110">
                <a:latin typeface="Trebuchet MS"/>
                <a:cs typeface="Trebuchet MS"/>
              </a:rPr>
              <a:t> </a:t>
            </a:r>
            <a:r>
              <a:rPr dirty="0" sz="1800" spc="-50">
                <a:latin typeface="Trebuchet MS"/>
                <a:cs typeface="Trebuchet MS"/>
              </a:rPr>
              <a:t>visualization</a:t>
            </a:r>
            <a:r>
              <a:rPr dirty="0" sz="1800" spc="-15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best</a:t>
            </a:r>
            <a:r>
              <a:rPr dirty="0" sz="1800" spc="-11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practices </a:t>
            </a:r>
            <a:r>
              <a:rPr dirty="0" sz="1800">
                <a:latin typeface="Trebuchet MS"/>
                <a:cs typeface="Trebuchet MS"/>
              </a:rPr>
              <a:t>Dashboard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design</a:t>
            </a:r>
            <a:r>
              <a:rPr dirty="0" sz="1800" spc="-1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and</a:t>
            </a:r>
            <a:r>
              <a:rPr dirty="0" sz="1800" spc="-15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creation</a:t>
            </a:r>
            <a:endParaRPr sz="1800">
              <a:latin typeface="Trebuchet MS"/>
              <a:cs typeface="Trebuchet MS"/>
            </a:endParaRPr>
          </a:p>
          <a:p>
            <a:pPr marL="373380">
              <a:lnSpc>
                <a:spcPts val="2130"/>
              </a:lnSpc>
              <a:spcBef>
                <a:spcPts val="15"/>
              </a:spcBef>
            </a:pPr>
            <a:r>
              <a:rPr dirty="0" sz="1800" spc="70">
                <a:latin typeface="Trebuchet MS"/>
                <a:cs typeface="Trebuchet MS"/>
              </a:rPr>
              <a:t>SQL</a:t>
            </a:r>
            <a:r>
              <a:rPr dirty="0" sz="1800" spc="-1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and</a:t>
            </a:r>
            <a:r>
              <a:rPr dirty="0" sz="1800" spc="-18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database</a:t>
            </a:r>
            <a:r>
              <a:rPr dirty="0" sz="1800" spc="-19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concepts</a:t>
            </a:r>
            <a:endParaRPr sz="1800">
              <a:latin typeface="Trebuchet MS"/>
              <a:cs typeface="Trebuchet MS"/>
            </a:endParaRPr>
          </a:p>
          <a:p>
            <a:pPr marL="373380">
              <a:lnSpc>
                <a:spcPts val="2130"/>
              </a:lnSpc>
            </a:pPr>
            <a:r>
              <a:rPr dirty="0" sz="1800" spc="-35">
                <a:latin typeface="Trebuchet MS"/>
                <a:cs typeface="Trebuchet MS"/>
              </a:rPr>
              <a:t>Python</a:t>
            </a:r>
            <a:r>
              <a:rPr dirty="0" sz="1800" spc="-145">
                <a:latin typeface="Trebuchet MS"/>
                <a:cs typeface="Trebuchet MS"/>
              </a:rPr>
              <a:t> </a:t>
            </a:r>
            <a:r>
              <a:rPr dirty="0" sz="1800" spc="-40">
                <a:latin typeface="Trebuchet MS"/>
                <a:cs typeface="Trebuchet MS"/>
              </a:rPr>
              <a:t>programming</a:t>
            </a:r>
            <a:r>
              <a:rPr dirty="0" sz="1800" spc="-180">
                <a:latin typeface="Trebuchet MS"/>
                <a:cs typeface="Trebuchet MS"/>
              </a:rPr>
              <a:t> </a:t>
            </a:r>
            <a:r>
              <a:rPr dirty="0" sz="1800" spc="-85">
                <a:latin typeface="Trebuchet MS"/>
                <a:cs typeface="Trebuchet MS"/>
              </a:rPr>
              <a:t>for</a:t>
            </a:r>
            <a:r>
              <a:rPr dirty="0" sz="1800" spc="-130">
                <a:latin typeface="Trebuchet MS"/>
                <a:cs typeface="Trebuchet MS"/>
              </a:rPr>
              <a:t> </a:t>
            </a:r>
            <a:r>
              <a:rPr dirty="0" sz="1800" spc="-40">
                <a:latin typeface="Trebuchet MS"/>
                <a:cs typeface="Trebuchet MS"/>
              </a:rPr>
              <a:t>data</a:t>
            </a:r>
            <a:r>
              <a:rPr dirty="0" sz="1800" spc="-10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analysis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419850" y="1933511"/>
            <a:ext cx="595630" cy="2395855"/>
            <a:chOff x="6419850" y="1933511"/>
            <a:chExt cx="595630" cy="2395855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9850" y="1933511"/>
              <a:ext cx="595312" cy="47148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9850" y="2209736"/>
              <a:ext cx="595312" cy="47148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9850" y="2485961"/>
              <a:ext cx="595312" cy="47148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9850" y="2762186"/>
              <a:ext cx="595312" cy="47148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9850" y="3028886"/>
              <a:ext cx="595312" cy="47148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9850" y="3305111"/>
              <a:ext cx="595312" cy="47148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9850" y="3581336"/>
              <a:ext cx="595312" cy="47148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9850" y="3857561"/>
              <a:ext cx="595312" cy="471487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6419850" y="4743386"/>
            <a:ext cx="595630" cy="1576705"/>
            <a:chOff x="6419850" y="4743386"/>
            <a:chExt cx="595630" cy="1576705"/>
          </a:xfrm>
        </p:grpSpPr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9850" y="4743386"/>
              <a:ext cx="595312" cy="48101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9850" y="5019738"/>
              <a:ext cx="595312" cy="48101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9850" y="5295899"/>
              <a:ext cx="595312" cy="48101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9850" y="5572124"/>
              <a:ext cx="595312" cy="48101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9850" y="5838824"/>
              <a:ext cx="595312" cy="481012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6558280" y="1706816"/>
            <a:ext cx="4461510" cy="5109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rebuchet MS"/>
                <a:cs typeface="Trebuchet MS"/>
              </a:rPr>
              <a:t>Business</a:t>
            </a:r>
            <a:r>
              <a:rPr dirty="0" sz="1800" spc="85" b="1">
                <a:latin typeface="Trebuchet MS"/>
                <a:cs typeface="Trebuchet MS"/>
              </a:rPr>
              <a:t> </a:t>
            </a:r>
            <a:r>
              <a:rPr dirty="0" sz="1800" spc="-10" b="1">
                <a:latin typeface="Trebuchet MS"/>
                <a:cs typeface="Trebuchet MS"/>
              </a:rPr>
              <a:t>Skills</a:t>
            </a:r>
            <a:endParaRPr sz="1800">
              <a:latin typeface="Trebuchet MS"/>
              <a:cs typeface="Trebuchet MS"/>
            </a:endParaRPr>
          </a:p>
          <a:p>
            <a:pPr marL="372745" marR="1123950">
              <a:lnSpc>
                <a:spcPct val="100800"/>
              </a:lnSpc>
              <a:spcBef>
                <a:spcPts val="5"/>
              </a:spcBef>
            </a:pPr>
            <a:r>
              <a:rPr dirty="0" sz="1800" spc="-65">
                <a:latin typeface="Trebuchet MS"/>
                <a:cs typeface="Trebuchet MS"/>
              </a:rPr>
              <a:t>Retail</a:t>
            </a:r>
            <a:r>
              <a:rPr dirty="0" sz="1800" spc="-1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and</a:t>
            </a:r>
            <a:r>
              <a:rPr dirty="0" sz="1800" spc="-80">
                <a:latin typeface="Trebuchet MS"/>
                <a:cs typeface="Trebuchet MS"/>
              </a:rPr>
              <a:t> </a:t>
            </a:r>
            <a:r>
              <a:rPr dirty="0" sz="1800" spc="-60">
                <a:latin typeface="Trebuchet MS"/>
                <a:cs typeface="Trebuchet MS"/>
              </a:rPr>
              <a:t>marketing</a:t>
            </a:r>
            <a:r>
              <a:rPr dirty="0" sz="1800" spc="-17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analytics </a:t>
            </a:r>
            <a:r>
              <a:rPr dirty="0" sz="1800">
                <a:latin typeface="Trebuchet MS"/>
                <a:cs typeface="Trebuchet MS"/>
              </a:rPr>
              <a:t>KPI</a:t>
            </a:r>
            <a:r>
              <a:rPr dirty="0" sz="1800" spc="-18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design</a:t>
            </a:r>
            <a:r>
              <a:rPr dirty="0" sz="1800" spc="-18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and</a:t>
            </a:r>
            <a:r>
              <a:rPr dirty="0" sz="1800" spc="-19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measurement</a:t>
            </a:r>
            <a:endParaRPr sz="1800">
              <a:latin typeface="Trebuchet MS"/>
              <a:cs typeface="Trebuchet MS"/>
            </a:endParaRPr>
          </a:p>
          <a:p>
            <a:pPr marL="372745" marR="5080">
              <a:lnSpc>
                <a:spcPct val="100800"/>
              </a:lnSpc>
            </a:pPr>
            <a:r>
              <a:rPr dirty="0" sz="1800">
                <a:latin typeface="Trebuchet MS"/>
                <a:cs typeface="Trebuchet MS"/>
              </a:rPr>
              <a:t>Customer</a:t>
            </a:r>
            <a:r>
              <a:rPr dirty="0" sz="1800" spc="-200">
                <a:latin typeface="Trebuchet MS"/>
                <a:cs typeface="Trebuchet MS"/>
              </a:rPr>
              <a:t> </a:t>
            </a:r>
            <a:r>
              <a:rPr dirty="0" sz="1800" spc="-80">
                <a:latin typeface="Trebuchet MS"/>
                <a:cs typeface="Trebuchet MS"/>
              </a:rPr>
              <a:t>lifetime</a:t>
            </a:r>
            <a:r>
              <a:rPr dirty="0" sz="1800" spc="-165">
                <a:latin typeface="Trebuchet MS"/>
                <a:cs typeface="Trebuchet MS"/>
              </a:rPr>
              <a:t> </a:t>
            </a:r>
            <a:r>
              <a:rPr dirty="0" sz="1800" spc="-50">
                <a:latin typeface="Trebuchet MS"/>
                <a:cs typeface="Trebuchet MS"/>
              </a:rPr>
              <a:t>value</a:t>
            </a:r>
            <a:r>
              <a:rPr dirty="0" sz="1800" spc="-75">
                <a:latin typeface="Trebuchet MS"/>
                <a:cs typeface="Trebuchet MS"/>
              </a:rPr>
              <a:t> </a:t>
            </a:r>
            <a:r>
              <a:rPr dirty="0" sz="1800" spc="-60">
                <a:latin typeface="Trebuchet MS"/>
                <a:cs typeface="Trebuchet MS"/>
              </a:rPr>
              <a:t>(CLV)</a:t>
            </a:r>
            <a:r>
              <a:rPr dirty="0" sz="1800" spc="-114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calculation </a:t>
            </a:r>
            <a:r>
              <a:rPr dirty="0" sz="1800" spc="-40">
                <a:latin typeface="Trebuchet MS"/>
                <a:cs typeface="Trebuchet MS"/>
              </a:rPr>
              <a:t>Market</a:t>
            </a:r>
            <a:r>
              <a:rPr dirty="0" sz="1800" spc="-185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basket</a:t>
            </a:r>
            <a:r>
              <a:rPr dirty="0" sz="1800" spc="-10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analysis</a:t>
            </a:r>
            <a:endParaRPr sz="1800">
              <a:latin typeface="Trebuchet MS"/>
              <a:cs typeface="Trebuchet MS"/>
            </a:endParaRPr>
          </a:p>
          <a:p>
            <a:pPr marL="372745">
              <a:lnSpc>
                <a:spcPts val="2105"/>
              </a:lnSpc>
            </a:pPr>
            <a:r>
              <a:rPr dirty="0" sz="1800" spc="-10">
                <a:latin typeface="Trebuchet MS"/>
                <a:cs typeface="Trebuchet MS"/>
              </a:rPr>
              <a:t>Cohort</a:t>
            </a:r>
            <a:r>
              <a:rPr dirty="0" sz="1800" spc="-1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analysis</a:t>
            </a:r>
            <a:r>
              <a:rPr dirty="0" sz="1800" spc="-204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and</a:t>
            </a:r>
            <a:r>
              <a:rPr dirty="0" sz="1800" spc="-110">
                <a:latin typeface="Trebuchet MS"/>
                <a:cs typeface="Trebuchet MS"/>
              </a:rPr>
              <a:t> </a:t>
            </a:r>
            <a:r>
              <a:rPr dirty="0" sz="1800" spc="-75">
                <a:latin typeface="Trebuchet MS"/>
                <a:cs typeface="Trebuchet MS"/>
              </a:rPr>
              <a:t>retention</a:t>
            </a:r>
            <a:r>
              <a:rPr dirty="0" sz="1800" spc="-17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metrics</a:t>
            </a:r>
            <a:endParaRPr sz="1800">
              <a:latin typeface="Trebuchet MS"/>
              <a:cs typeface="Trebuchet MS"/>
            </a:endParaRPr>
          </a:p>
          <a:p>
            <a:pPr marL="372745" marR="1394460">
              <a:lnSpc>
                <a:spcPct val="100800"/>
              </a:lnSpc>
            </a:pPr>
            <a:r>
              <a:rPr dirty="0" sz="1800" spc="45">
                <a:latin typeface="Trebuchet MS"/>
                <a:cs typeface="Trebuchet MS"/>
              </a:rPr>
              <a:t>Business</a:t>
            </a:r>
            <a:r>
              <a:rPr dirty="0" sz="1800" spc="-200">
                <a:latin typeface="Trebuchet MS"/>
                <a:cs typeface="Trebuchet MS"/>
              </a:rPr>
              <a:t> </a:t>
            </a:r>
            <a:r>
              <a:rPr dirty="0" sz="1800" spc="-40">
                <a:latin typeface="Trebuchet MS"/>
                <a:cs typeface="Trebuchet MS"/>
              </a:rPr>
              <a:t>insight</a:t>
            </a:r>
            <a:r>
              <a:rPr dirty="0" sz="1800" spc="-130">
                <a:latin typeface="Trebuchet MS"/>
                <a:cs typeface="Trebuchet MS"/>
              </a:rPr>
              <a:t> </a:t>
            </a:r>
            <a:r>
              <a:rPr dirty="0" sz="1800" spc="-40">
                <a:latin typeface="Trebuchet MS"/>
                <a:cs typeface="Trebuchet MS"/>
              </a:rPr>
              <a:t>generation </a:t>
            </a:r>
            <a:r>
              <a:rPr dirty="0" sz="1800" spc="-65">
                <a:latin typeface="Trebuchet MS"/>
                <a:cs typeface="Trebuchet MS"/>
              </a:rPr>
              <a:t>Executive </a:t>
            </a:r>
            <a:r>
              <a:rPr dirty="0" sz="1800" spc="-10">
                <a:latin typeface="Trebuchet MS"/>
                <a:cs typeface="Trebuchet MS"/>
              </a:rPr>
              <a:t>communication</a:t>
            </a:r>
            <a:endParaRPr sz="1800">
              <a:latin typeface="Trebuchet MS"/>
              <a:cs typeface="Trebuchet MS"/>
            </a:endParaRPr>
          </a:p>
          <a:p>
            <a:pPr marL="372745">
              <a:lnSpc>
                <a:spcPct val="100000"/>
              </a:lnSpc>
              <a:spcBef>
                <a:spcPts val="20"/>
              </a:spcBef>
            </a:pPr>
            <a:r>
              <a:rPr dirty="0" sz="1800" spc="-55">
                <a:latin typeface="Trebuchet MS"/>
                <a:cs typeface="Trebuchet MS"/>
              </a:rPr>
              <a:t>Strategic</a:t>
            </a:r>
            <a:r>
              <a:rPr dirty="0" sz="1800" spc="-125">
                <a:latin typeface="Trebuchet MS"/>
                <a:cs typeface="Trebuchet MS"/>
              </a:rPr>
              <a:t> </a:t>
            </a:r>
            <a:r>
              <a:rPr dirty="0" sz="1800" spc="-30">
                <a:latin typeface="Trebuchet MS"/>
                <a:cs typeface="Trebuchet MS"/>
              </a:rPr>
              <a:t>recommendation</a:t>
            </a:r>
            <a:r>
              <a:rPr dirty="0" sz="1800" spc="-8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development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-30" b="1">
                <a:latin typeface="Trebuchet MS"/>
                <a:cs typeface="Trebuchet MS"/>
              </a:rPr>
              <a:t>Tools</a:t>
            </a:r>
            <a:r>
              <a:rPr dirty="0" sz="1800" spc="-200" b="1">
                <a:latin typeface="Trebuchet MS"/>
                <a:cs typeface="Trebuchet MS"/>
              </a:rPr>
              <a:t> </a:t>
            </a:r>
            <a:r>
              <a:rPr dirty="0" sz="1800" spc="440" b="1">
                <a:latin typeface="Trebuchet MS"/>
                <a:cs typeface="Trebuchet MS"/>
              </a:rPr>
              <a:t>s</a:t>
            </a:r>
            <a:r>
              <a:rPr dirty="0" sz="1800" spc="-190" b="1">
                <a:latin typeface="Trebuchet MS"/>
                <a:cs typeface="Trebuchet MS"/>
              </a:rPr>
              <a:t> </a:t>
            </a:r>
            <a:r>
              <a:rPr dirty="0" sz="1800" spc="-10" b="1">
                <a:latin typeface="Trebuchet MS"/>
                <a:cs typeface="Trebuchet MS"/>
              </a:rPr>
              <a:t>Technologies</a:t>
            </a:r>
            <a:endParaRPr sz="1800">
              <a:latin typeface="Trebuchet MS"/>
              <a:cs typeface="Trebuchet MS"/>
            </a:endParaRPr>
          </a:p>
          <a:p>
            <a:pPr marL="372745" marR="136525">
              <a:lnSpc>
                <a:spcPct val="100800"/>
              </a:lnSpc>
            </a:pPr>
            <a:r>
              <a:rPr dirty="0" sz="1800" spc="-35">
                <a:latin typeface="Trebuchet MS"/>
                <a:cs typeface="Trebuchet MS"/>
              </a:rPr>
              <a:t>Python</a:t>
            </a:r>
            <a:r>
              <a:rPr dirty="0" sz="1800" spc="-130">
                <a:latin typeface="Trebuchet MS"/>
                <a:cs typeface="Trebuchet MS"/>
              </a:rPr>
              <a:t> </a:t>
            </a:r>
            <a:r>
              <a:rPr dirty="0" sz="1800" spc="-30">
                <a:latin typeface="Trebuchet MS"/>
                <a:cs typeface="Trebuchet MS"/>
              </a:rPr>
              <a:t>(pandas,</a:t>
            </a:r>
            <a:r>
              <a:rPr dirty="0" sz="1800" spc="-100">
                <a:latin typeface="Trebuchet MS"/>
                <a:cs typeface="Trebuchet MS"/>
              </a:rPr>
              <a:t> </a:t>
            </a:r>
            <a:r>
              <a:rPr dirty="0" sz="1800" spc="-40">
                <a:latin typeface="Trebuchet MS"/>
                <a:cs typeface="Trebuchet MS"/>
              </a:rPr>
              <a:t>scikit-</a:t>
            </a:r>
            <a:r>
              <a:rPr dirty="0" sz="1800" spc="-70">
                <a:latin typeface="Trebuchet MS"/>
                <a:cs typeface="Trebuchet MS"/>
              </a:rPr>
              <a:t>learn,</a:t>
            </a:r>
            <a:r>
              <a:rPr dirty="0" sz="1800" spc="-95">
                <a:latin typeface="Trebuchet MS"/>
                <a:cs typeface="Trebuchet MS"/>
              </a:rPr>
              <a:t> </a:t>
            </a:r>
            <a:r>
              <a:rPr dirty="0" sz="1800" spc="-45">
                <a:latin typeface="Trebuchet MS"/>
                <a:cs typeface="Trebuchet MS"/>
              </a:rPr>
              <a:t>matplotlib) </a:t>
            </a:r>
            <a:r>
              <a:rPr dirty="0" sz="1800" spc="-100">
                <a:latin typeface="Trebuchet MS"/>
                <a:cs typeface="Trebuchet MS"/>
              </a:rPr>
              <a:t>Jupyter</a:t>
            </a:r>
            <a:r>
              <a:rPr dirty="0" sz="1800" spc="-13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Notebooks</a:t>
            </a:r>
            <a:endParaRPr sz="1800">
              <a:latin typeface="Trebuchet MS"/>
              <a:cs typeface="Trebuchet MS"/>
            </a:endParaRPr>
          </a:p>
          <a:p>
            <a:pPr marL="372745" marR="2286635">
              <a:lnSpc>
                <a:spcPct val="99100"/>
              </a:lnSpc>
              <a:spcBef>
                <a:spcPts val="40"/>
              </a:spcBef>
            </a:pPr>
            <a:r>
              <a:rPr dirty="0" sz="1800" spc="-50">
                <a:latin typeface="Trebuchet MS"/>
                <a:cs typeface="Trebuchet MS"/>
              </a:rPr>
              <a:t>Power</a:t>
            </a:r>
            <a:r>
              <a:rPr dirty="0" sz="1800" spc="-22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BI</a:t>
            </a:r>
            <a:r>
              <a:rPr dirty="0" sz="1800" spc="-150">
                <a:latin typeface="Trebuchet MS"/>
                <a:cs typeface="Trebuchet MS"/>
              </a:rPr>
              <a:t> </a:t>
            </a:r>
            <a:r>
              <a:rPr dirty="0" sz="1800" spc="-345">
                <a:latin typeface="Trebuchet MS"/>
                <a:cs typeface="Trebuchet MS"/>
              </a:rPr>
              <a:t>/</a:t>
            </a:r>
            <a:r>
              <a:rPr dirty="0" sz="1800" spc="-140">
                <a:latin typeface="Trebuchet MS"/>
                <a:cs typeface="Trebuchet MS"/>
              </a:rPr>
              <a:t> </a:t>
            </a:r>
            <a:r>
              <a:rPr dirty="0" sz="1800" spc="-55">
                <a:latin typeface="Trebuchet MS"/>
                <a:cs typeface="Trebuchet MS"/>
              </a:rPr>
              <a:t>Tableau </a:t>
            </a:r>
            <a:r>
              <a:rPr dirty="0" sz="1800" spc="-60">
                <a:latin typeface="Trebuchet MS"/>
                <a:cs typeface="Trebuchet MS"/>
              </a:rPr>
              <a:t>Git</a:t>
            </a:r>
            <a:r>
              <a:rPr dirty="0" sz="1800" spc="-220">
                <a:latin typeface="Trebuchet MS"/>
                <a:cs typeface="Trebuchet MS"/>
              </a:rPr>
              <a:t> </a:t>
            </a:r>
            <a:r>
              <a:rPr dirty="0" sz="1800" spc="75">
                <a:latin typeface="Trebuchet MS"/>
                <a:cs typeface="Trebuchet MS"/>
              </a:rPr>
              <a:t>C</a:t>
            </a:r>
            <a:r>
              <a:rPr dirty="0" sz="1800" spc="-114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GitHub </a:t>
            </a:r>
            <a:r>
              <a:rPr dirty="0" sz="1800" spc="-40">
                <a:latin typeface="Trebuchet MS"/>
                <a:cs typeface="Trebuchet MS"/>
              </a:rPr>
              <a:t>Kaggle</a:t>
            </a:r>
            <a:r>
              <a:rPr dirty="0" sz="1800" spc="-175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API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800">
              <a:latin typeface="Trebuchet MS"/>
              <a:cs typeface="Trebuchet MS"/>
            </a:endParaRPr>
          </a:p>
          <a:p>
            <a:pPr algn="r" marR="132080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Trebuchet MS"/>
                <a:cs typeface="Trebuchet MS"/>
              </a:rPr>
              <a:t>LEARNING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469635" y="289242"/>
            <a:ext cx="4671695" cy="956310"/>
          </a:xfrm>
          <a:prstGeom prst="rect"/>
        </p:spPr>
        <p:txBody>
          <a:bodyPr wrap="square" lIns="0" tIns="71120" rIns="0" bIns="0" rtlCol="0" vert="horz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60"/>
              </a:spcBef>
            </a:pPr>
            <a:r>
              <a:rPr dirty="0" sz="3200" spc="-145"/>
              <a:t>Create</a:t>
            </a:r>
            <a:r>
              <a:rPr dirty="0" sz="3200" spc="-340"/>
              <a:t> </a:t>
            </a:r>
            <a:r>
              <a:rPr dirty="0" sz="3200" spc="-125"/>
              <a:t>GitHub</a:t>
            </a:r>
            <a:r>
              <a:rPr dirty="0" sz="3200" spc="-345"/>
              <a:t> </a:t>
            </a:r>
            <a:r>
              <a:rPr dirty="0" sz="3200" spc="-125"/>
              <a:t>Repo</a:t>
            </a:r>
            <a:r>
              <a:rPr dirty="0" sz="3200" spc="-315"/>
              <a:t> </a:t>
            </a:r>
            <a:r>
              <a:rPr dirty="0" sz="3200" spc="-200"/>
              <a:t>for</a:t>
            </a:r>
            <a:r>
              <a:rPr dirty="0" sz="3200" spc="-310"/>
              <a:t> </a:t>
            </a:r>
            <a:r>
              <a:rPr dirty="0" sz="3200" spc="-140"/>
              <a:t>the </a:t>
            </a:r>
            <a:r>
              <a:rPr dirty="0" sz="3200" spc="-45"/>
              <a:t>Project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1100" y="18160"/>
            <a:ext cx="4057650" cy="683983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 marR="4424045">
              <a:lnSpc>
                <a:spcPct val="100800"/>
              </a:lnSpc>
              <a:spcBef>
                <a:spcPts val="85"/>
              </a:spcBef>
            </a:pPr>
            <a:r>
              <a:rPr dirty="0"/>
              <a:t>#</a:t>
            </a:r>
            <a:r>
              <a:rPr dirty="0" spc="-145"/>
              <a:t> </a:t>
            </a:r>
            <a:r>
              <a:rPr dirty="0" spc="-25"/>
              <a:t>Add</a:t>
            </a:r>
            <a:r>
              <a:rPr dirty="0" spc="-110"/>
              <a:t> </a:t>
            </a:r>
            <a:r>
              <a:rPr dirty="0" spc="-50"/>
              <a:t>all</a:t>
            </a:r>
            <a:r>
              <a:rPr dirty="0" spc="-170"/>
              <a:t> </a:t>
            </a:r>
            <a:r>
              <a:rPr dirty="0" spc="-45"/>
              <a:t>files </a:t>
            </a:r>
            <a:r>
              <a:rPr dirty="0" spc="-105"/>
              <a:t>git</a:t>
            </a:r>
            <a:r>
              <a:rPr dirty="0" spc="-135"/>
              <a:t> </a:t>
            </a:r>
            <a:r>
              <a:rPr dirty="0" spc="-10"/>
              <a:t>add</a:t>
            </a:r>
            <a:r>
              <a:rPr dirty="0" spc="-105"/>
              <a:t> </a:t>
            </a:r>
            <a:r>
              <a:rPr dirty="0" spc="-50"/>
              <a:t>.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</a:p>
          <a:p>
            <a:pPr marL="12700">
              <a:lnSpc>
                <a:spcPts val="2135"/>
              </a:lnSpc>
              <a:spcBef>
                <a:spcPts val="5"/>
              </a:spcBef>
            </a:pPr>
            <a:r>
              <a:rPr dirty="0"/>
              <a:t>#</a:t>
            </a:r>
            <a:r>
              <a:rPr dirty="0" spc="-130"/>
              <a:t> </a:t>
            </a:r>
            <a:r>
              <a:rPr dirty="0" spc="-45"/>
              <a:t>Create</a:t>
            </a:r>
            <a:r>
              <a:rPr dirty="0" spc="-110"/>
              <a:t> </a:t>
            </a:r>
            <a:r>
              <a:rPr dirty="0" spc="-85"/>
              <a:t>initial</a:t>
            </a:r>
            <a:r>
              <a:rPr dirty="0" spc="-155"/>
              <a:t> </a:t>
            </a:r>
            <a:r>
              <a:rPr dirty="0" spc="-10"/>
              <a:t>commit</a:t>
            </a:r>
          </a:p>
          <a:p>
            <a:pPr marL="12700" marR="5080">
              <a:lnSpc>
                <a:spcPts val="2180"/>
              </a:lnSpc>
              <a:spcBef>
                <a:spcPts val="25"/>
              </a:spcBef>
            </a:pPr>
            <a:r>
              <a:rPr dirty="0" spc="-105"/>
              <a:t>git</a:t>
            </a:r>
            <a:r>
              <a:rPr dirty="0" spc="-110"/>
              <a:t> </a:t>
            </a:r>
            <a:r>
              <a:rPr dirty="0" spc="-20"/>
              <a:t>commit</a:t>
            </a:r>
            <a:r>
              <a:rPr dirty="0" spc="-160"/>
              <a:t> </a:t>
            </a:r>
            <a:r>
              <a:rPr dirty="0" spc="-60"/>
              <a:t>-</a:t>
            </a:r>
            <a:r>
              <a:rPr dirty="0"/>
              <a:t>m</a:t>
            </a:r>
            <a:r>
              <a:rPr dirty="0" spc="-170"/>
              <a:t> </a:t>
            </a:r>
            <a:r>
              <a:rPr dirty="0" spc="-45"/>
              <a:t>"Initial</a:t>
            </a:r>
            <a:r>
              <a:rPr dirty="0" spc="-150"/>
              <a:t> </a:t>
            </a:r>
            <a:r>
              <a:rPr dirty="0" spc="-45"/>
              <a:t>commit:</a:t>
            </a:r>
            <a:r>
              <a:rPr dirty="0" spc="-120"/>
              <a:t> </a:t>
            </a:r>
            <a:r>
              <a:rPr dirty="0" spc="-20"/>
              <a:t>Complete</a:t>
            </a:r>
            <a:r>
              <a:rPr dirty="0" spc="-180"/>
              <a:t> </a:t>
            </a:r>
            <a:r>
              <a:rPr dirty="0" spc="-80"/>
              <a:t>retail</a:t>
            </a:r>
            <a:r>
              <a:rPr dirty="0" spc="-150"/>
              <a:t> </a:t>
            </a:r>
            <a:r>
              <a:rPr dirty="0" spc="75"/>
              <a:t>C</a:t>
            </a:r>
            <a:r>
              <a:rPr dirty="0" spc="-165"/>
              <a:t> </a:t>
            </a:r>
            <a:r>
              <a:rPr dirty="0" spc="-20"/>
              <a:t>marketing </a:t>
            </a:r>
            <a:r>
              <a:rPr dirty="0" spc="-30"/>
              <a:t>analytics</a:t>
            </a:r>
            <a:r>
              <a:rPr dirty="0" spc="-70"/>
              <a:t> </a:t>
            </a:r>
            <a:r>
              <a:rPr dirty="0" spc="-10"/>
              <a:t>project"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</a:p>
          <a:p>
            <a:pPr marL="12700" marR="1071245">
              <a:lnSpc>
                <a:spcPct val="100800"/>
              </a:lnSpc>
            </a:pPr>
            <a:r>
              <a:rPr dirty="0"/>
              <a:t>#</a:t>
            </a:r>
            <a:r>
              <a:rPr dirty="0" spc="-130"/>
              <a:t> </a:t>
            </a:r>
            <a:r>
              <a:rPr dirty="0" spc="-45"/>
              <a:t>Create</a:t>
            </a:r>
            <a:r>
              <a:rPr dirty="0" spc="-105"/>
              <a:t> </a:t>
            </a:r>
            <a:r>
              <a:rPr dirty="0" spc="-30"/>
              <a:t>GitHub</a:t>
            </a:r>
            <a:r>
              <a:rPr dirty="0" spc="-95"/>
              <a:t> </a:t>
            </a:r>
            <a:r>
              <a:rPr dirty="0" spc="-50"/>
              <a:t>repository</a:t>
            </a:r>
            <a:r>
              <a:rPr dirty="0" spc="-125"/>
              <a:t> </a:t>
            </a:r>
            <a:r>
              <a:rPr dirty="0" spc="-100"/>
              <a:t>(via</a:t>
            </a:r>
            <a:r>
              <a:rPr dirty="0" spc="-114"/>
              <a:t> </a:t>
            </a:r>
            <a:r>
              <a:rPr dirty="0" spc="-10"/>
              <a:t>GitHub</a:t>
            </a:r>
            <a:r>
              <a:rPr dirty="0" spc="-175"/>
              <a:t> </a:t>
            </a:r>
            <a:r>
              <a:rPr dirty="0" spc="-20"/>
              <a:t>website) </a:t>
            </a:r>
            <a:r>
              <a:rPr dirty="0"/>
              <a:t>#</a:t>
            </a:r>
            <a:r>
              <a:rPr dirty="0" spc="-145"/>
              <a:t> </a:t>
            </a:r>
            <a:r>
              <a:rPr dirty="0" spc="-75"/>
              <a:t>Then</a:t>
            </a:r>
            <a:r>
              <a:rPr dirty="0" spc="-165"/>
              <a:t> </a:t>
            </a:r>
            <a:r>
              <a:rPr dirty="0" spc="-10"/>
              <a:t>connect</a:t>
            </a:r>
            <a:r>
              <a:rPr dirty="0" spc="-210"/>
              <a:t> </a:t>
            </a:r>
            <a:r>
              <a:rPr dirty="0" spc="-10"/>
              <a:t>local</a:t>
            </a:r>
            <a:r>
              <a:rPr dirty="0" spc="-170"/>
              <a:t> </a:t>
            </a:r>
            <a:r>
              <a:rPr dirty="0" spc="-55"/>
              <a:t>to</a:t>
            </a:r>
            <a:r>
              <a:rPr dirty="0" spc="-165"/>
              <a:t> </a:t>
            </a:r>
            <a:r>
              <a:rPr dirty="0" spc="-10"/>
              <a:t>remote</a:t>
            </a:r>
          </a:p>
          <a:p>
            <a:pPr marL="12700" marR="665480">
              <a:lnSpc>
                <a:spcPts val="2180"/>
              </a:lnSpc>
            </a:pPr>
            <a:r>
              <a:rPr dirty="0" spc="-105"/>
              <a:t>git</a:t>
            </a:r>
            <a:r>
              <a:rPr dirty="0" spc="-100"/>
              <a:t> </a:t>
            </a:r>
            <a:r>
              <a:rPr dirty="0" spc="-55"/>
              <a:t>remote</a:t>
            </a:r>
            <a:r>
              <a:rPr dirty="0" spc="-175"/>
              <a:t> </a:t>
            </a:r>
            <a:r>
              <a:rPr dirty="0"/>
              <a:t>add</a:t>
            </a:r>
            <a:r>
              <a:rPr dirty="0" spc="-160"/>
              <a:t> </a:t>
            </a:r>
            <a:r>
              <a:rPr dirty="0" spc="-10"/>
              <a:t>origin </a:t>
            </a:r>
            <a:r>
              <a:rPr dirty="0" spc="-75">
                <a:hlinkClick r:id="rId3"/>
              </a:rPr>
              <a:t>https://github.com/yourusername/retail-</a:t>
            </a:r>
            <a:r>
              <a:rPr dirty="0" spc="-25">
                <a:hlinkClick r:id="rId3"/>
              </a:rPr>
              <a:t>marketing-</a:t>
            </a:r>
            <a:r>
              <a:rPr dirty="0" spc="-10"/>
              <a:t>analytics.git</a:t>
            </a:r>
          </a:p>
          <a:p>
            <a:pPr>
              <a:lnSpc>
                <a:spcPct val="100000"/>
              </a:lnSpc>
              <a:spcBef>
                <a:spcPts val="145"/>
              </a:spcBef>
            </a:pPr>
          </a:p>
          <a:p>
            <a:pPr marL="12700" marR="3898265">
              <a:lnSpc>
                <a:spcPts val="2100"/>
              </a:lnSpc>
            </a:pPr>
            <a:r>
              <a:rPr dirty="0"/>
              <a:t>#</a:t>
            </a:r>
            <a:r>
              <a:rPr dirty="0" spc="-120"/>
              <a:t> </a:t>
            </a:r>
            <a:r>
              <a:rPr dirty="0"/>
              <a:t>Push</a:t>
            </a:r>
            <a:r>
              <a:rPr dirty="0" spc="-150"/>
              <a:t> </a:t>
            </a:r>
            <a:r>
              <a:rPr dirty="0" spc="-90"/>
              <a:t>to</a:t>
            </a:r>
            <a:r>
              <a:rPr dirty="0" spc="-145"/>
              <a:t> </a:t>
            </a:r>
            <a:r>
              <a:rPr dirty="0" spc="-10"/>
              <a:t>GitHub </a:t>
            </a:r>
            <a:r>
              <a:rPr dirty="0" spc="-105"/>
              <a:t>git</a:t>
            </a:r>
            <a:r>
              <a:rPr dirty="0" spc="-130"/>
              <a:t> </a:t>
            </a:r>
            <a:r>
              <a:rPr dirty="0" spc="-30"/>
              <a:t>branch</a:t>
            </a:r>
            <a:r>
              <a:rPr dirty="0" spc="-114"/>
              <a:t> </a:t>
            </a:r>
            <a:r>
              <a:rPr dirty="0" spc="-65"/>
              <a:t>-</a:t>
            </a:r>
            <a:r>
              <a:rPr dirty="0" spc="140"/>
              <a:t>M</a:t>
            </a:r>
            <a:r>
              <a:rPr dirty="0" spc="-145"/>
              <a:t> </a:t>
            </a:r>
            <a:r>
              <a:rPr dirty="0" spc="-20"/>
              <a:t>main</a:t>
            </a:r>
          </a:p>
          <a:p>
            <a:pPr marL="12700">
              <a:lnSpc>
                <a:spcPts val="2125"/>
              </a:lnSpc>
            </a:pPr>
            <a:r>
              <a:rPr dirty="0" spc="-105"/>
              <a:t>git</a:t>
            </a:r>
            <a:r>
              <a:rPr dirty="0" spc="-80"/>
              <a:t> </a:t>
            </a:r>
            <a:r>
              <a:rPr dirty="0"/>
              <a:t>push</a:t>
            </a:r>
            <a:r>
              <a:rPr dirty="0" spc="-145"/>
              <a:t> </a:t>
            </a:r>
            <a:r>
              <a:rPr dirty="0" spc="-65"/>
              <a:t>-</a:t>
            </a:r>
            <a:r>
              <a:rPr dirty="0"/>
              <a:t>u</a:t>
            </a:r>
            <a:r>
              <a:rPr dirty="0" spc="-140"/>
              <a:t> </a:t>
            </a:r>
            <a:r>
              <a:rPr dirty="0" spc="-60"/>
              <a:t>origin</a:t>
            </a:r>
            <a:r>
              <a:rPr dirty="0" spc="-120"/>
              <a:t> </a:t>
            </a:r>
            <a:r>
              <a:rPr dirty="0" spc="-20"/>
              <a:t>main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2026-05-15T04:58:40Z</dcterms:created>
  <dcterms:modified xsi:type="dcterms:W3CDTF">2026-05-15T04:58:40Z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2025-11-07T00:00:00Z</vt:filetime>
  </property>
  <property fmtid="{D5CDD505-2E9C-101B-9397-08002B2CF9AE}" pid="4" name="LastSaved">
    <vt:filetime>2026-05-15T00:00:00Z</vt:filetime>
  </property>
</Properties>
</file>